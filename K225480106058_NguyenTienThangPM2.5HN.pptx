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67" r:id="rId14"/>
    <p:sldId id="271" r:id="rId15"/>
    <p:sldId id="273" r:id="rId16"/>
  </p:sldIdLst>
  <p:sldSz cx="12192000" cy="6858000"/>
  <p:notesSz cx="6858000" cy="12192000"/>
  <p:embeddedFontLst>
    <p:embeddedFont>
      <p:font typeface="Alice" panose="020B0604020202020204" charset="0"/>
      <p:regular r:id="rId18"/>
    </p:embeddedFont>
    <p:embeddedFont>
      <p:font typeface="Lora" pitchFamily="2"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576" y="-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011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F2DE"/>
          </a:solidFill>
          <a:ln/>
        </p:spPr>
      </p:sp>
      <p:sp>
        <p:nvSpPr>
          <p:cNvPr id="3" name="Shape 1"/>
          <p:cNvSpPr/>
          <p:nvPr/>
        </p:nvSpPr>
        <p:spPr>
          <a:xfrm>
            <a:off x="0" y="0"/>
            <a:ext cx="12191695" cy="68580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2.png"/><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sv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233360" y="404037"/>
            <a:ext cx="6296860" cy="2523709"/>
          </a:xfrm>
          <a:prstGeom prst="rect">
            <a:avLst/>
          </a:prstGeom>
          <a:noFill/>
          <a:ln/>
        </p:spPr>
        <p:txBody>
          <a:bodyPr wrap="square" lIns="0" tIns="0" rIns="0" bIns="0" rtlCol="0" anchor="t">
            <a:normAutofit/>
          </a:bodyPr>
          <a:lstStyle/>
          <a:p>
            <a:pPr marL="0" indent="0" algn="ctr">
              <a:lnSpc>
                <a:spcPct val="104000"/>
              </a:lnSpc>
              <a:buNone/>
            </a:pPr>
            <a:r>
              <a:rPr lang="en-US" sz="3700" dirty="0">
                <a:solidFill>
                  <a:srgbClr val="233E32"/>
                </a:solidFill>
                <a:latin typeface="Times New Roman" panose="02020603050405020304" pitchFamily="18" charset="0"/>
                <a:ea typeface="Alice" pitchFamily="34" charset="-122"/>
                <a:cs typeface="Times New Roman" panose="02020603050405020304" pitchFamily="18" charset="0"/>
              </a:rPr>
              <a:t>Phân Tích Thực Tế về Chất Lượng Không Khí tại Hà Nội</a:t>
            </a:r>
            <a:endParaRPr lang="en-US" sz="3700" dirty="0">
              <a:latin typeface="Times New Roman" panose="02020603050405020304" pitchFamily="18" charset="0"/>
              <a:cs typeface="Times New Roman" panose="02020603050405020304" pitchFamily="18" charset="0"/>
            </a:endParaRPr>
          </a:p>
        </p:txBody>
      </p:sp>
      <p:sp>
        <p:nvSpPr>
          <p:cNvPr id="4" name="Text 1"/>
          <p:cNvSpPr/>
          <p:nvPr/>
        </p:nvSpPr>
        <p:spPr>
          <a:xfrm>
            <a:off x="5324424" y="1913860"/>
            <a:ext cx="6205796" cy="2629863"/>
          </a:xfrm>
          <a:prstGeom prst="rect">
            <a:avLst/>
          </a:prstGeom>
          <a:noFill/>
          <a:ln/>
        </p:spPr>
        <p:txBody>
          <a:bodyPr wrap="square" lIns="0" tIns="0" rIns="0" bIns="0" rtlCol="0" anchor="t"/>
          <a:lstStyle/>
          <a:p>
            <a:pPr marL="0" indent="0" algn="l">
              <a:lnSpc>
                <a:spcPct val="133000"/>
              </a:lnSpc>
              <a:buNone/>
            </a:pPr>
            <a:r>
              <a:rPr lang="en-US" sz="2300" dirty="0">
                <a:solidFill>
                  <a:srgbClr val="2C2821"/>
                </a:solidFill>
                <a:latin typeface="Times New Roman" panose="02020603050405020304" pitchFamily="18" charset="0"/>
                <a:ea typeface="Lora" pitchFamily="34" charset="-122"/>
                <a:cs typeface="Times New Roman" panose="02020603050405020304" pitchFamily="18" charset="0"/>
              </a:rPr>
              <a:t>Báo cáo môn học: </a:t>
            </a:r>
            <a:r>
              <a:rPr lang="en-US" sz="2300" b="1" dirty="0">
                <a:solidFill>
                  <a:srgbClr val="2C2821"/>
                </a:solidFill>
                <a:latin typeface="Times New Roman" panose="02020603050405020304" pitchFamily="18" charset="0"/>
                <a:ea typeface="Lora" pitchFamily="34" charset="-122"/>
                <a:cs typeface="Times New Roman" panose="02020603050405020304" pitchFamily="18" charset="0"/>
              </a:rPr>
              <a:t>Khoa học Dữ liệu</a:t>
            </a:r>
            <a:endParaRPr lang="en-US" sz="2300" dirty="0">
              <a:latin typeface="Times New Roman" panose="02020603050405020304" pitchFamily="18" charset="0"/>
              <a:cs typeface="Times New Roman" panose="02020603050405020304" pitchFamily="18" charset="0"/>
            </a:endParaRPr>
          </a:p>
          <a:p>
            <a:pPr marL="0" indent="0" algn="l">
              <a:lnSpc>
                <a:spcPct val="133000"/>
              </a:lnSpc>
              <a:buNone/>
            </a:pPr>
            <a:r>
              <a:rPr lang="en-US" sz="2300" dirty="0">
                <a:solidFill>
                  <a:srgbClr val="2C2821"/>
                </a:solidFill>
                <a:latin typeface="Times New Roman" panose="02020603050405020304" pitchFamily="18" charset="0"/>
                <a:ea typeface="Lora" pitchFamily="34" charset="-122"/>
                <a:cs typeface="Times New Roman" panose="02020603050405020304" pitchFamily="18" charset="0"/>
              </a:rPr>
              <a:t>Sinh viên: </a:t>
            </a:r>
            <a:r>
              <a:rPr lang="en-US" sz="2300" b="1" dirty="0">
                <a:solidFill>
                  <a:srgbClr val="2C2821"/>
                </a:solidFill>
                <a:latin typeface="Times New Roman" panose="02020603050405020304" pitchFamily="18" charset="0"/>
                <a:ea typeface="Lora" pitchFamily="34" charset="-122"/>
                <a:cs typeface="Times New Roman" panose="02020603050405020304" pitchFamily="18" charset="0"/>
              </a:rPr>
              <a:t>Nguyễn Tiến Thắng</a:t>
            </a:r>
            <a:r>
              <a:rPr lang="en-US" sz="2300" dirty="0">
                <a:solidFill>
                  <a:srgbClr val="2C2821"/>
                </a:solidFill>
                <a:latin typeface="Times New Roman" panose="02020603050405020304" pitchFamily="18" charset="0"/>
                <a:ea typeface="Lora" pitchFamily="34" charset="-122"/>
                <a:cs typeface="Times New Roman" panose="02020603050405020304" pitchFamily="18" charset="0"/>
              </a:rPr>
              <a:t> </a:t>
            </a:r>
            <a:endParaRPr lang="vi-VN" sz="2300" dirty="0">
              <a:solidFill>
                <a:srgbClr val="2C2821"/>
              </a:solidFill>
              <a:latin typeface="Times New Roman" panose="02020603050405020304" pitchFamily="18" charset="0"/>
              <a:ea typeface="Lora" pitchFamily="34" charset="-122"/>
              <a:cs typeface="Times New Roman" panose="02020603050405020304" pitchFamily="18" charset="0"/>
            </a:endParaRPr>
          </a:p>
          <a:p>
            <a:pPr marL="0" indent="0" algn="l">
              <a:lnSpc>
                <a:spcPct val="133000"/>
              </a:lnSpc>
              <a:buNone/>
            </a:pPr>
            <a:r>
              <a:rPr lang="vi-VN" sz="2300" dirty="0">
                <a:solidFill>
                  <a:srgbClr val="2C2821"/>
                </a:solidFill>
                <a:latin typeface="Times New Roman" panose="02020603050405020304" pitchFamily="18" charset="0"/>
                <a:ea typeface="Lora" pitchFamily="34" charset="-122"/>
                <a:cs typeface="Times New Roman" panose="02020603050405020304" pitchFamily="18" charset="0"/>
              </a:rPr>
              <a:t>Mssv      </a:t>
            </a:r>
            <a:r>
              <a:rPr lang="en-US" sz="2300" dirty="0">
                <a:solidFill>
                  <a:srgbClr val="2C2821"/>
                </a:solidFill>
                <a:latin typeface="Times New Roman" panose="02020603050405020304" pitchFamily="18" charset="0"/>
                <a:ea typeface="Lora" pitchFamily="34" charset="-122"/>
                <a:cs typeface="Times New Roman" panose="02020603050405020304" pitchFamily="18" charset="0"/>
              </a:rPr>
              <a:t>: K225480106058</a:t>
            </a:r>
            <a:r>
              <a:rPr lang="vi-VN" sz="2300" dirty="0">
                <a:solidFill>
                  <a:srgbClr val="2C2821"/>
                </a:solidFill>
                <a:latin typeface="Times New Roman" panose="02020603050405020304" pitchFamily="18" charset="0"/>
                <a:ea typeface="Lora" pitchFamily="34" charset="-122"/>
                <a:cs typeface="Times New Roman" panose="02020603050405020304" pitchFamily="18" charset="0"/>
              </a:rPr>
              <a:t> </a:t>
            </a:r>
          </a:p>
          <a:p>
            <a:pPr marL="0" indent="0" algn="l">
              <a:lnSpc>
                <a:spcPct val="133000"/>
              </a:lnSpc>
              <a:buNone/>
            </a:pPr>
            <a:r>
              <a:rPr lang="en-US" sz="2300" dirty="0">
                <a:solidFill>
                  <a:srgbClr val="2C2821"/>
                </a:solidFill>
                <a:latin typeface="Times New Roman" panose="02020603050405020304" pitchFamily="18" charset="0"/>
                <a:ea typeface="Lora" pitchFamily="34" charset="-122"/>
                <a:cs typeface="Times New Roman" panose="02020603050405020304" pitchFamily="18" charset="0"/>
              </a:rPr>
              <a:t> Lớp: 58KTPM</a:t>
            </a:r>
            <a:endParaRPr lang="en-US" sz="2300" dirty="0">
              <a:latin typeface="Times New Roman" panose="02020603050405020304" pitchFamily="18" charset="0"/>
              <a:cs typeface="Times New Roman" panose="02020603050405020304" pitchFamily="18" charset="0"/>
            </a:endParaRPr>
          </a:p>
          <a:p>
            <a:pPr marL="0" indent="0" algn="l">
              <a:lnSpc>
                <a:spcPct val="133000"/>
              </a:lnSpc>
              <a:buNone/>
            </a:pPr>
            <a:r>
              <a:rPr lang="en-US" sz="2300" dirty="0">
                <a:solidFill>
                  <a:srgbClr val="2C2821"/>
                </a:solidFill>
                <a:latin typeface="Times New Roman" panose="02020603050405020304" pitchFamily="18" charset="0"/>
                <a:ea typeface="Lora" pitchFamily="34" charset="-122"/>
                <a:cs typeface="Times New Roman" panose="02020603050405020304" pitchFamily="18" charset="0"/>
              </a:rPr>
              <a:t>Giảng viên hướng dẫn: </a:t>
            </a:r>
            <a:r>
              <a:rPr lang="en-US" sz="2300" b="1" dirty="0">
                <a:solidFill>
                  <a:srgbClr val="2C2821"/>
                </a:solidFill>
                <a:latin typeface="Times New Roman" panose="02020603050405020304" pitchFamily="18" charset="0"/>
                <a:ea typeface="Lora" pitchFamily="34" charset="-122"/>
                <a:cs typeface="Times New Roman" panose="02020603050405020304" pitchFamily="18" charset="0"/>
              </a:rPr>
              <a:t>Nguyễn Văn Huy</a:t>
            </a:r>
            <a:endParaRPr lang="en-US" sz="2300" dirty="0">
              <a:latin typeface="Times New Roman" panose="02020603050405020304" pitchFamily="18" charset="0"/>
              <a:cs typeface="Times New Roman" panose="02020603050405020304" pitchFamily="18" charset="0"/>
            </a:endParaRPr>
          </a:p>
        </p:txBody>
      </p:sp>
      <p:sp>
        <p:nvSpPr>
          <p:cNvPr id="5" name="Shape 2"/>
          <p:cNvSpPr/>
          <p:nvPr/>
        </p:nvSpPr>
        <p:spPr>
          <a:xfrm>
            <a:off x="5324424" y="4339419"/>
            <a:ext cx="2080764" cy="355203"/>
          </a:xfrm>
          <a:prstGeom prst="roundRect">
            <a:avLst>
              <a:gd name="adj" fmla="val 6386"/>
            </a:avLst>
          </a:prstGeom>
          <a:solidFill>
            <a:srgbClr val="D7F4E4"/>
          </a:solidFill>
          <a:ln/>
        </p:spPr>
      </p:sp>
      <p:sp>
        <p:nvSpPr>
          <p:cNvPr id="6" name="Text 3"/>
          <p:cNvSpPr/>
          <p:nvPr/>
        </p:nvSpPr>
        <p:spPr>
          <a:xfrm>
            <a:off x="5398852" y="4452727"/>
            <a:ext cx="2463540" cy="241895"/>
          </a:xfrm>
          <a:prstGeom prst="rect">
            <a:avLst/>
          </a:prstGeom>
          <a:noFill/>
          <a:ln/>
        </p:spPr>
        <p:txBody>
          <a:bodyPr wrap="none" lIns="0" tIns="0" rIns="0" bIns="0" rtlCol="0" anchor="t"/>
          <a:lstStyle/>
          <a:p>
            <a:pPr marL="0" indent="0" algn="l">
              <a:lnSpc>
                <a:spcPct val="133000"/>
              </a:lnSpc>
              <a:buNone/>
            </a:pPr>
            <a:r>
              <a:rPr lang="en-US" sz="1150" dirty="0">
                <a:solidFill>
                  <a:srgbClr val="2C2821"/>
                </a:solidFill>
                <a:latin typeface="Lora" pitchFamily="34" charset="0"/>
                <a:ea typeface="Lora" pitchFamily="34" charset="-122"/>
                <a:cs typeface="Lora" pitchFamily="34" charset="-120"/>
              </a:rPr>
              <a:t>THÁI NGUYÊN, NĂM 2026</a:t>
            </a:r>
            <a:endParaRPr lang="en-US" sz="1150" dirty="0"/>
          </a:p>
        </p:txBody>
      </p:sp>
      <p:pic>
        <p:nvPicPr>
          <p:cNvPr id="8" name="Picture 7">
            <a:extLst>
              <a:ext uri="{FF2B5EF4-FFF2-40B4-BE49-F238E27FC236}">
                <a16:creationId xmlns:a16="http://schemas.microsoft.com/office/drawing/2014/main" id="{E19DEB7D-9111-E65C-4D17-38C8792F7EC2}"/>
              </a:ext>
            </a:extLst>
          </p:cNvPr>
          <p:cNvPicPr>
            <a:picLocks noChangeAspect="1"/>
          </p:cNvPicPr>
          <p:nvPr/>
        </p:nvPicPr>
        <p:blipFill>
          <a:blip r:embed="rId3"/>
          <a:stretch>
            <a:fillRect/>
          </a:stretch>
        </p:blipFill>
        <p:spPr>
          <a:xfrm>
            <a:off x="11033620" y="6551370"/>
            <a:ext cx="1158380" cy="306630"/>
          </a:xfrm>
          <a:prstGeom prst="rect">
            <a:avLst/>
          </a:prstGeom>
        </p:spPr>
      </p:pic>
      <p:sp>
        <p:nvSpPr>
          <p:cNvPr id="10" name="TextBox 9">
            <a:extLst>
              <a:ext uri="{FF2B5EF4-FFF2-40B4-BE49-F238E27FC236}">
                <a16:creationId xmlns:a16="http://schemas.microsoft.com/office/drawing/2014/main" id="{431BDA76-2B81-A010-8449-84255B0926D0}"/>
              </a:ext>
            </a:extLst>
          </p:cNvPr>
          <p:cNvSpPr txBox="1"/>
          <p:nvPr/>
        </p:nvSpPr>
        <p:spPr>
          <a:xfrm>
            <a:off x="2969142" y="3052948"/>
            <a:ext cx="6150934" cy="369332"/>
          </a:xfrm>
          <a:prstGeom prst="rect">
            <a:avLst/>
          </a:prstGeom>
          <a:noFill/>
        </p:spPr>
        <p:txBody>
          <a:bodyPr wrap="square">
            <a:spAutoFit/>
          </a:bodyPr>
          <a:lstStyle/>
          <a:p>
            <a:endParaRPr lang="en-US" dirty="0"/>
          </a:p>
        </p:txBody>
      </p:sp>
      <p:pic>
        <p:nvPicPr>
          <p:cNvPr id="12" name="Picture 11">
            <a:extLst>
              <a:ext uri="{FF2B5EF4-FFF2-40B4-BE49-F238E27FC236}">
                <a16:creationId xmlns:a16="http://schemas.microsoft.com/office/drawing/2014/main" id="{B0564EA5-03FC-4919-87CF-DD1A8AA9B6EF}"/>
              </a:ext>
            </a:extLst>
          </p:cNvPr>
          <p:cNvPicPr>
            <a:picLocks noChangeAspect="1"/>
          </p:cNvPicPr>
          <p:nvPr/>
        </p:nvPicPr>
        <p:blipFill>
          <a:blip r:embed="rId4"/>
          <a:stretch>
            <a:fillRect/>
          </a:stretch>
        </p:blipFill>
        <p:spPr>
          <a:xfrm>
            <a:off x="0" y="0"/>
            <a:ext cx="505046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574" y="655340"/>
            <a:ext cx="5334958" cy="590649"/>
          </a:xfrm>
          <a:prstGeom prst="rect">
            <a:avLst/>
          </a:prstGeom>
          <a:noFill/>
          <a:ln/>
        </p:spPr>
        <p:txBody>
          <a:bodyPr wrap="none" lIns="0" tIns="0" rIns="0" bIns="0" rtlCol="0" anchor="t"/>
          <a:lstStyle/>
          <a:p>
            <a:pPr marL="0" indent="0" algn="l">
              <a:lnSpc>
                <a:spcPct val="104000"/>
              </a:lnSpc>
              <a:buNone/>
            </a:pPr>
            <a:r>
              <a:rPr lang="en-US" b="1" dirty="0">
                <a:latin typeface="Times New Roman" panose="02020603050405020304" pitchFamily="18" charset="0"/>
                <a:ea typeface="Alice" pitchFamily="34" charset="-122"/>
                <a:cs typeface="Times New Roman" panose="02020603050405020304" pitchFamily="18" charset="0"/>
              </a:rPr>
              <a:t>LÝ DO CHỌN ĐỀ TÀI</a:t>
            </a:r>
            <a:endParaRPr lang="en-US" b="1"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175" y="1624013"/>
            <a:ext cx="3522178" cy="2047180"/>
          </a:xfrm>
          <a:prstGeom prst="rect">
            <a:avLst/>
          </a:prstGeom>
        </p:spPr>
      </p:pic>
      <p:sp>
        <p:nvSpPr>
          <p:cNvPr id="4" name="Text 1"/>
          <p:cNvSpPr/>
          <p:nvPr/>
        </p:nvSpPr>
        <p:spPr>
          <a:xfrm>
            <a:off x="952179" y="1838424"/>
            <a:ext cx="2725074" cy="295275"/>
          </a:xfrm>
          <a:prstGeom prst="rect">
            <a:avLst/>
          </a:prstGeom>
          <a:noFill/>
          <a:ln/>
        </p:spPr>
        <p:txBody>
          <a:bodyPr wrap="none" lIns="0" tIns="0" rIns="0" bIns="0" rtlCol="0" anchor="t"/>
          <a:lstStyle/>
          <a:p>
            <a:pPr marL="0" indent="0" algn="l">
              <a:lnSpc>
                <a:spcPct val="104000"/>
              </a:lnSpc>
              <a:buNone/>
            </a:pPr>
            <a:r>
              <a:rPr lang="en-US" dirty="0">
                <a:latin typeface="Times New Roman" panose="02020603050405020304" pitchFamily="18" charset="0"/>
                <a:ea typeface="Alice" pitchFamily="34" charset="-122"/>
                <a:cs typeface="Times New Roman" panose="02020603050405020304" pitchFamily="18" charset="0"/>
              </a:rPr>
              <a:t>Vấn đề ô nhiễm không khí</a:t>
            </a:r>
            <a:endParaRPr lang="en-US" dirty="0">
              <a:latin typeface="Times New Roman" panose="02020603050405020304" pitchFamily="18" charset="0"/>
              <a:cs typeface="Times New Roman" panose="02020603050405020304" pitchFamily="18" charset="0"/>
            </a:endParaRPr>
          </a:p>
        </p:txBody>
      </p:sp>
      <p:sp>
        <p:nvSpPr>
          <p:cNvPr id="5" name="Text 2"/>
          <p:cNvSpPr/>
          <p:nvPr/>
        </p:nvSpPr>
        <p:spPr>
          <a:xfrm>
            <a:off x="952179" y="2247106"/>
            <a:ext cx="2991767" cy="907256"/>
          </a:xfrm>
          <a:prstGeom prst="rect">
            <a:avLst/>
          </a:prstGeom>
          <a:noFill/>
          <a:ln/>
        </p:spPr>
        <p:txBody>
          <a:bodyPr wrap="square" lIns="0" tIns="0" rIns="0" bIns="0" rtlCol="0" anchor="t">
            <a:noAutofit/>
          </a:bodyPr>
          <a:lstStyle/>
          <a:p>
            <a:pPr marL="0" indent="0" algn="l">
              <a:lnSpc>
                <a:spcPct val="133000"/>
              </a:lnSpc>
              <a:buNone/>
            </a:pPr>
            <a:r>
              <a:rPr lang="en-US" dirty="0">
                <a:latin typeface="Times New Roman" panose="02020603050405020304" pitchFamily="18" charset="0"/>
                <a:ea typeface="Lora" pitchFamily="34" charset="-122"/>
                <a:cs typeface="Times New Roman" panose="02020603050405020304" pitchFamily="18" charset="0"/>
              </a:rPr>
              <a:t>Ô nhiễm không khí đang là vấn đề được quan tâm tại các thành phố lớn, đặc biệt là Hà Nội.</a:t>
            </a:r>
            <a:endParaRPr lang="en-US"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21960" y="1624013"/>
            <a:ext cx="3522277" cy="2047180"/>
          </a:xfrm>
          <a:prstGeom prst="rect">
            <a:avLst/>
          </a:prstGeom>
        </p:spPr>
      </p:pic>
      <p:sp>
        <p:nvSpPr>
          <p:cNvPr id="7" name="Text 3"/>
          <p:cNvSpPr/>
          <p:nvPr/>
        </p:nvSpPr>
        <p:spPr>
          <a:xfrm>
            <a:off x="4637964" y="1838424"/>
            <a:ext cx="2362637" cy="295275"/>
          </a:xfrm>
          <a:prstGeom prst="rect">
            <a:avLst/>
          </a:prstGeom>
          <a:noFill/>
          <a:ln/>
        </p:spPr>
        <p:txBody>
          <a:bodyPr wrap="none" lIns="0" tIns="0" rIns="0" bIns="0" rtlCol="0" anchor="t"/>
          <a:lstStyle/>
          <a:p>
            <a:pPr marL="0" indent="0" algn="l">
              <a:lnSpc>
                <a:spcPct val="104000"/>
              </a:lnSpc>
              <a:buNone/>
            </a:pPr>
            <a:r>
              <a:rPr lang="en-US" dirty="0">
                <a:latin typeface="Times New Roman" panose="02020603050405020304" pitchFamily="18" charset="0"/>
                <a:ea typeface="Alice" pitchFamily="34" charset="-122"/>
                <a:cs typeface="Times New Roman" panose="02020603050405020304" pitchFamily="18" charset="0"/>
              </a:rPr>
              <a:t>Đặc thù đô thị Hà Nội</a:t>
            </a:r>
            <a:endParaRPr lang="en-US" dirty="0">
              <a:latin typeface="Times New Roman" panose="02020603050405020304" pitchFamily="18" charset="0"/>
              <a:cs typeface="Times New Roman" panose="02020603050405020304" pitchFamily="18" charset="0"/>
            </a:endParaRPr>
          </a:p>
        </p:txBody>
      </p:sp>
      <p:sp>
        <p:nvSpPr>
          <p:cNvPr id="8" name="Text 4"/>
          <p:cNvSpPr/>
          <p:nvPr/>
        </p:nvSpPr>
        <p:spPr>
          <a:xfrm>
            <a:off x="4637964" y="2247106"/>
            <a:ext cx="2991867" cy="1209675"/>
          </a:xfrm>
          <a:prstGeom prst="rect">
            <a:avLst/>
          </a:prstGeom>
          <a:noFill/>
          <a:ln/>
        </p:spPr>
        <p:txBody>
          <a:bodyPr wrap="square" lIns="0" tIns="0" rIns="0" bIns="0" rtlCol="0" anchor="t">
            <a:noAutofit/>
          </a:bodyPr>
          <a:lstStyle/>
          <a:p>
            <a:pPr marL="0" indent="0" algn="l">
              <a:lnSpc>
                <a:spcPct val="133000"/>
              </a:lnSpc>
              <a:buNone/>
            </a:pPr>
            <a:r>
              <a:rPr lang="en-US" dirty="0">
                <a:latin typeface="Times New Roman" panose="02020603050405020304" pitchFamily="18" charset="0"/>
                <a:ea typeface="Lora" pitchFamily="34" charset="-122"/>
                <a:cs typeface="Times New Roman" panose="02020603050405020304" pitchFamily="18" charset="0"/>
              </a:rPr>
              <a:t>Hà Nội có mật độ dân cư cao, lượng phương tiện giao thông lớn, nhiều hoạt động xây dựng và đô thị hóa.</a:t>
            </a:r>
            <a:endParaRPr lang="en-US"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7844" y="1624013"/>
            <a:ext cx="3522277" cy="2047180"/>
          </a:xfrm>
          <a:prstGeom prst="rect">
            <a:avLst/>
          </a:prstGeom>
        </p:spPr>
      </p:pic>
      <p:sp>
        <p:nvSpPr>
          <p:cNvPr id="10" name="Text 5"/>
          <p:cNvSpPr/>
          <p:nvPr/>
        </p:nvSpPr>
        <p:spPr>
          <a:xfrm>
            <a:off x="8323848" y="1838424"/>
            <a:ext cx="2362637" cy="295275"/>
          </a:xfrm>
          <a:prstGeom prst="rect">
            <a:avLst/>
          </a:prstGeom>
          <a:noFill/>
          <a:ln/>
        </p:spPr>
        <p:txBody>
          <a:bodyPr wrap="none" lIns="0" tIns="0" rIns="0" bIns="0" rtlCol="0" anchor="t"/>
          <a:lstStyle/>
          <a:p>
            <a:pPr marL="0" indent="0" algn="l">
              <a:lnSpc>
                <a:spcPct val="104000"/>
              </a:lnSpc>
              <a:buNone/>
            </a:pPr>
            <a:r>
              <a:rPr lang="en-US" dirty="0">
                <a:latin typeface="Times New Roman" panose="02020603050405020304" pitchFamily="18" charset="0"/>
                <a:ea typeface="Alice" pitchFamily="34" charset="-122"/>
                <a:cs typeface="Times New Roman" panose="02020603050405020304" pitchFamily="18" charset="0"/>
              </a:rPr>
              <a:t>Tác động của PM2.5</a:t>
            </a:r>
            <a:endParaRPr lang="en-US" dirty="0">
              <a:latin typeface="Times New Roman" panose="02020603050405020304" pitchFamily="18" charset="0"/>
              <a:cs typeface="Times New Roman" panose="02020603050405020304" pitchFamily="18" charset="0"/>
            </a:endParaRPr>
          </a:p>
        </p:txBody>
      </p:sp>
      <p:sp>
        <p:nvSpPr>
          <p:cNvPr id="11" name="Text 6"/>
          <p:cNvSpPr/>
          <p:nvPr/>
        </p:nvSpPr>
        <p:spPr>
          <a:xfrm>
            <a:off x="8323848" y="2247106"/>
            <a:ext cx="2991867" cy="907256"/>
          </a:xfrm>
          <a:prstGeom prst="rect">
            <a:avLst/>
          </a:prstGeom>
          <a:noFill/>
          <a:ln/>
        </p:spPr>
        <p:txBody>
          <a:bodyPr wrap="square" lIns="0" tIns="0" rIns="0" bIns="0" rtlCol="0" anchor="t">
            <a:noAutofit/>
          </a:bodyPr>
          <a:lstStyle/>
          <a:p>
            <a:pPr marL="0" indent="0" algn="l">
              <a:lnSpc>
                <a:spcPct val="133000"/>
              </a:lnSpc>
              <a:buNone/>
            </a:pPr>
            <a:r>
              <a:rPr lang="en-US" dirty="0">
                <a:latin typeface="Times New Roman" panose="02020603050405020304" pitchFamily="18" charset="0"/>
                <a:ea typeface="Lora" pitchFamily="34" charset="-122"/>
                <a:cs typeface="Times New Roman" panose="02020603050405020304" pitchFamily="18" charset="0"/>
              </a:rPr>
              <a:t>PM2.5 là bụi mịn có kích thước rất nhỏ, có thể ảnh hưởng trực tiếp đến sức khỏe con người.</a:t>
            </a:r>
            <a:endParaRPr lang="en-US" dirty="0">
              <a:latin typeface="Times New Roman" panose="02020603050405020304" pitchFamily="18" charset="0"/>
              <a:cs typeface="Times New Roman" panose="02020603050405020304" pitchFamily="18" charset="0"/>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6175" y="3860205"/>
            <a:ext cx="3522178" cy="2342455"/>
          </a:xfrm>
          <a:prstGeom prst="rect">
            <a:avLst/>
          </a:prstGeom>
        </p:spPr>
      </p:pic>
      <p:sp>
        <p:nvSpPr>
          <p:cNvPr id="13" name="Text 7"/>
          <p:cNvSpPr/>
          <p:nvPr/>
        </p:nvSpPr>
        <p:spPr>
          <a:xfrm>
            <a:off x="952179" y="4074616"/>
            <a:ext cx="2991767" cy="590550"/>
          </a:xfrm>
          <a:prstGeom prst="rect">
            <a:avLst/>
          </a:prstGeom>
          <a:noFill/>
          <a:ln/>
        </p:spPr>
        <p:txBody>
          <a:bodyPr wrap="square" lIns="0" tIns="0" rIns="0" bIns="0" rtlCol="0" anchor="t">
            <a:noAutofit/>
          </a:bodyPr>
          <a:lstStyle/>
          <a:p>
            <a:pPr marL="0" indent="0" algn="l">
              <a:lnSpc>
                <a:spcPct val="104000"/>
              </a:lnSpc>
              <a:buNone/>
            </a:pPr>
            <a:r>
              <a:rPr lang="en-US" dirty="0">
                <a:latin typeface="Times New Roman" panose="02020603050405020304" pitchFamily="18" charset="0"/>
                <a:ea typeface="Alice" pitchFamily="34" charset="-122"/>
                <a:cs typeface="Times New Roman" panose="02020603050405020304" pitchFamily="18" charset="0"/>
              </a:rPr>
              <a:t>Phân tích dựa trên số liệu thực tế</a:t>
            </a:r>
            <a:endParaRPr lang="en-US" dirty="0">
              <a:latin typeface="Times New Roman" panose="02020603050405020304" pitchFamily="18" charset="0"/>
              <a:cs typeface="Times New Roman" panose="02020603050405020304" pitchFamily="18" charset="0"/>
            </a:endParaRPr>
          </a:p>
        </p:txBody>
      </p:sp>
      <p:sp>
        <p:nvSpPr>
          <p:cNvPr id="14" name="Text 8"/>
          <p:cNvSpPr/>
          <p:nvPr/>
        </p:nvSpPr>
        <p:spPr>
          <a:xfrm>
            <a:off x="952179" y="4778573"/>
            <a:ext cx="2991767" cy="1209675"/>
          </a:xfrm>
          <a:prstGeom prst="rect">
            <a:avLst/>
          </a:prstGeom>
          <a:noFill/>
          <a:ln/>
        </p:spPr>
        <p:txBody>
          <a:bodyPr wrap="square" lIns="0" tIns="0" rIns="0" bIns="0" rtlCol="0" anchor="t">
            <a:noAutofit/>
          </a:bodyPr>
          <a:lstStyle/>
          <a:p>
            <a:pPr marL="0" indent="0" algn="l">
              <a:lnSpc>
                <a:spcPct val="133000"/>
              </a:lnSpc>
              <a:buNone/>
            </a:pPr>
            <a:r>
              <a:rPr lang="en-US" dirty="0">
                <a:latin typeface="Times New Roman" panose="02020603050405020304" pitchFamily="18" charset="0"/>
                <a:ea typeface="Lora" pitchFamily="34" charset="-122"/>
                <a:cs typeface="Times New Roman" panose="02020603050405020304" pitchFamily="18" charset="0"/>
              </a:rPr>
              <a:t>Việc phân tích dữ liệu PM2.5 giúp đánh giá tình trạng chất lượng không khí dựa trên số liệu thực tế.</a:t>
            </a:r>
            <a:endParaRPr lang="en-US" dirty="0">
              <a:latin typeface="Times New Roman" panose="02020603050405020304" pitchFamily="18" charset="0"/>
              <a:cs typeface="Times New Roman" panose="02020603050405020304" pitchFamily="18" charset="0"/>
            </a:endParaRPr>
          </a:p>
        </p:txBody>
      </p:sp>
      <p:pic>
        <p:nvPicPr>
          <p:cNvPr id="15"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21960" y="3860205"/>
            <a:ext cx="3522277" cy="2342455"/>
          </a:xfrm>
          <a:prstGeom prst="rect">
            <a:avLst/>
          </a:prstGeom>
        </p:spPr>
      </p:pic>
      <p:sp>
        <p:nvSpPr>
          <p:cNvPr id="16" name="Text 9"/>
          <p:cNvSpPr/>
          <p:nvPr/>
        </p:nvSpPr>
        <p:spPr>
          <a:xfrm>
            <a:off x="4637964" y="4074616"/>
            <a:ext cx="2940969" cy="295275"/>
          </a:xfrm>
          <a:prstGeom prst="rect">
            <a:avLst/>
          </a:prstGeom>
          <a:noFill/>
          <a:ln/>
        </p:spPr>
        <p:txBody>
          <a:bodyPr wrap="none" lIns="0" tIns="0" rIns="0" bIns="0" rtlCol="0" anchor="t"/>
          <a:lstStyle/>
          <a:p>
            <a:pPr marL="0" indent="0" algn="l">
              <a:lnSpc>
                <a:spcPct val="104000"/>
              </a:lnSpc>
              <a:buNone/>
            </a:pPr>
            <a:r>
              <a:rPr lang="en-US" dirty="0">
                <a:latin typeface="Times New Roman" panose="02020603050405020304" pitchFamily="18" charset="0"/>
                <a:ea typeface="Alice" pitchFamily="34" charset="-122"/>
                <a:cs typeface="Times New Roman" panose="02020603050405020304" pitchFamily="18" charset="0"/>
              </a:rPr>
              <a:t>Ứng dụng Khoa học Dữ liệu</a:t>
            </a:r>
            <a:endParaRPr lang="en-US" dirty="0">
              <a:latin typeface="Times New Roman" panose="02020603050405020304" pitchFamily="18" charset="0"/>
              <a:cs typeface="Times New Roman" panose="02020603050405020304" pitchFamily="18" charset="0"/>
            </a:endParaRPr>
          </a:p>
        </p:txBody>
      </p:sp>
      <p:sp>
        <p:nvSpPr>
          <p:cNvPr id="17" name="Text 10"/>
          <p:cNvSpPr/>
          <p:nvPr/>
        </p:nvSpPr>
        <p:spPr>
          <a:xfrm>
            <a:off x="4637964" y="4483298"/>
            <a:ext cx="2991867" cy="1209675"/>
          </a:xfrm>
          <a:prstGeom prst="rect">
            <a:avLst/>
          </a:prstGeom>
          <a:noFill/>
          <a:ln/>
        </p:spPr>
        <p:txBody>
          <a:bodyPr wrap="square" lIns="0" tIns="0" rIns="0" bIns="0" rtlCol="0" anchor="t">
            <a:noAutofit/>
          </a:bodyPr>
          <a:lstStyle/>
          <a:p>
            <a:pPr marL="0" indent="0" algn="l">
              <a:lnSpc>
                <a:spcPct val="133000"/>
              </a:lnSpc>
              <a:buNone/>
            </a:pPr>
            <a:r>
              <a:rPr lang="en-US" dirty="0">
                <a:latin typeface="Times New Roman" panose="02020603050405020304" pitchFamily="18" charset="0"/>
                <a:ea typeface="Lora" pitchFamily="34" charset="-122"/>
                <a:cs typeface="Times New Roman" panose="02020603050405020304" pitchFamily="18" charset="0"/>
              </a:rPr>
              <a:t>Đề tài giúp vận dụng kiến thức môn Khoa học Dữ liệu vào một bài toán thực tế, gần gũi với đời sống.</a:t>
            </a:r>
            <a:endParaRPr lang="en-US"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82443C16-8947-FCE6-A1D9-C65542B3958E}"/>
              </a:ext>
            </a:extLst>
          </p:cNvPr>
          <p:cNvPicPr>
            <a:picLocks noChangeAspect="1"/>
          </p:cNvPicPr>
          <p:nvPr/>
        </p:nvPicPr>
        <p:blipFill>
          <a:blip r:embed="rId5"/>
          <a:stretch>
            <a:fillRect/>
          </a:stretch>
        </p:blipFill>
        <p:spPr>
          <a:xfrm>
            <a:off x="11033620" y="6562003"/>
            <a:ext cx="1158380" cy="3066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8799" y="614859"/>
            <a:ext cx="3332717" cy="466428"/>
          </a:xfrm>
          <a:prstGeom prst="rect">
            <a:avLst/>
          </a:prstGeom>
          <a:noFill/>
          <a:ln/>
        </p:spPr>
        <p:txBody>
          <a:bodyPr wrap="none" lIns="0" tIns="0" rIns="0" bIns="0" rtlCol="0" anchor="t"/>
          <a:lstStyle/>
          <a:p>
            <a:pPr marL="0" indent="0" algn="l">
              <a:lnSpc>
                <a:spcPct val="104000"/>
              </a:lnSpc>
              <a:buNone/>
            </a:pPr>
            <a:r>
              <a:rPr lang="en-US" sz="2100" b="1" dirty="0">
                <a:latin typeface="Times New Roman" panose="02020603050405020304" pitchFamily="18" charset="0"/>
                <a:ea typeface="Alice" pitchFamily="34" charset="-122"/>
                <a:cs typeface="Times New Roman" panose="02020603050405020304" pitchFamily="18" charset="0"/>
              </a:rPr>
              <a:t>MỤC TIÊU ĐỀ TÀI</a:t>
            </a:r>
            <a:endParaRPr lang="en-US" sz="2100" b="1" dirty="0">
              <a:latin typeface="Times New Roman" panose="02020603050405020304" pitchFamily="18" charset="0"/>
              <a:cs typeface="Times New Roman" panose="02020603050405020304" pitchFamily="18" charset="0"/>
            </a:endParaRPr>
          </a:p>
        </p:txBody>
      </p:sp>
      <p:sp>
        <p:nvSpPr>
          <p:cNvPr id="3" name="Text 1"/>
          <p:cNvSpPr/>
          <p:nvPr/>
        </p:nvSpPr>
        <p:spPr>
          <a:xfrm>
            <a:off x="661574" y="1512888"/>
            <a:ext cx="302411" cy="189012"/>
          </a:xfrm>
          <a:prstGeom prst="rect">
            <a:avLst/>
          </a:prstGeom>
          <a:noFill/>
          <a:ln/>
        </p:spPr>
        <p:txBody>
          <a:bodyPr wrap="none" lIns="0" tIns="0" rIns="0" bIns="0" rtlCol="0" anchor="ctr"/>
          <a:lstStyle/>
          <a:p>
            <a:pPr marL="0" indent="0" algn="l">
              <a:lnSpc>
                <a:spcPct val="100000"/>
              </a:lnSpc>
              <a:buNone/>
            </a:pPr>
            <a:r>
              <a:rPr lang="en-US" sz="2100" dirty="0">
                <a:latin typeface="Times New Roman" panose="02020603050405020304" pitchFamily="18" charset="0"/>
                <a:ea typeface="Alice Light" pitchFamily="34" charset="-122"/>
                <a:cs typeface="Times New Roman" panose="02020603050405020304" pitchFamily="18" charset="0"/>
              </a:rPr>
              <a:t>01</a:t>
            </a:r>
            <a:endParaRPr lang="en-US" sz="2100" dirty="0">
              <a:latin typeface="Times New Roman" panose="02020603050405020304" pitchFamily="18" charset="0"/>
              <a:cs typeface="Times New Roman" panose="02020603050405020304" pitchFamily="18" charset="0"/>
            </a:endParaRPr>
          </a:p>
        </p:txBody>
      </p:sp>
      <p:sp>
        <p:nvSpPr>
          <p:cNvPr id="4" name="Shape 2"/>
          <p:cNvSpPr/>
          <p:nvPr/>
        </p:nvSpPr>
        <p:spPr>
          <a:xfrm>
            <a:off x="661574" y="1750814"/>
            <a:ext cx="5373752" cy="19050"/>
          </a:xfrm>
          <a:prstGeom prst="rect">
            <a:avLst/>
          </a:prstGeom>
          <a:solidFill>
            <a:srgbClr val="1B5F39"/>
          </a:solidFill>
          <a:ln/>
        </p:spPr>
      </p:sp>
      <p:sp>
        <p:nvSpPr>
          <p:cNvPr id="5" name="Text 3"/>
          <p:cNvSpPr/>
          <p:nvPr/>
        </p:nvSpPr>
        <p:spPr>
          <a:xfrm>
            <a:off x="661574" y="1864519"/>
            <a:ext cx="1890169" cy="236240"/>
          </a:xfrm>
          <a:prstGeom prst="rect">
            <a:avLst/>
          </a:prstGeom>
          <a:noFill/>
          <a:ln/>
        </p:spPr>
        <p:txBody>
          <a:bodyPr wrap="none" lIns="0" tIns="0" rIns="0" bIns="0" rtlCol="0" anchor="t"/>
          <a:lstStyle/>
          <a:p>
            <a:pPr marL="0" indent="0" algn="l">
              <a:lnSpc>
                <a:spcPct val="104000"/>
              </a:lnSpc>
              <a:buNone/>
            </a:pPr>
            <a:endParaRPr lang="en-US" sz="2100" dirty="0">
              <a:latin typeface="Times New Roman" panose="02020603050405020304" pitchFamily="18" charset="0"/>
              <a:cs typeface="Times New Roman" panose="02020603050405020304" pitchFamily="18" charset="0"/>
            </a:endParaRPr>
          </a:p>
        </p:txBody>
      </p:sp>
      <p:sp>
        <p:nvSpPr>
          <p:cNvPr id="6" name="Text 4"/>
          <p:cNvSpPr/>
          <p:nvPr/>
        </p:nvSpPr>
        <p:spPr>
          <a:xfrm>
            <a:off x="722320" y="1745953"/>
            <a:ext cx="5210231" cy="931564"/>
          </a:xfrm>
          <a:prstGeom prst="rect">
            <a:avLst/>
          </a:prstGeom>
          <a:noFill/>
          <a:ln/>
        </p:spPr>
        <p:txBody>
          <a:bodyPr wrap="none" lIns="0" tIns="0" rIns="0" bIns="0" rtlCol="0" anchor="t"/>
          <a:lstStyle/>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Thu thập và sử dụng dữ liệu chất </a:t>
            </a:r>
            <a:r>
              <a:rPr lang="en-US" sz="2100" dirty="0" err="1">
                <a:latin typeface="Times New Roman" panose="02020603050405020304" pitchFamily="18" charset="0"/>
                <a:ea typeface="Lora" pitchFamily="34" charset="-122"/>
                <a:cs typeface="Times New Roman" panose="02020603050405020304" pitchFamily="18" charset="0"/>
              </a:rPr>
              <a:t>lượng</a:t>
            </a:r>
            <a:r>
              <a:rPr lang="en-US" sz="2100" dirty="0">
                <a:latin typeface="Times New Roman" panose="02020603050405020304" pitchFamily="18" charset="0"/>
                <a:ea typeface="Lora" pitchFamily="34" charset="-122"/>
                <a:cs typeface="Times New Roman" panose="02020603050405020304" pitchFamily="18" charset="0"/>
              </a:rPr>
              <a:t> </a:t>
            </a:r>
            <a:endParaRPr lang="vi-VN" sz="2100" dirty="0">
              <a:latin typeface="Times New Roman" panose="02020603050405020304" pitchFamily="18" charset="0"/>
              <a:ea typeface="Lora" pitchFamily="34" charset="-122"/>
              <a:cs typeface="Times New Roman" panose="02020603050405020304" pitchFamily="18" charset="0"/>
            </a:endParaRPr>
          </a:p>
          <a:p>
            <a:pPr marL="0" indent="0" algn="l">
              <a:lnSpc>
                <a:spcPct val="120000"/>
              </a:lnSpc>
              <a:buNone/>
            </a:pPr>
            <a:r>
              <a:rPr lang="en-US" sz="2100" dirty="0" err="1">
                <a:latin typeface="Times New Roman" panose="02020603050405020304" pitchFamily="18" charset="0"/>
                <a:ea typeface="Lora" pitchFamily="34" charset="-122"/>
                <a:cs typeface="Times New Roman" panose="02020603050405020304" pitchFamily="18" charset="0"/>
              </a:rPr>
              <a:t>không</a:t>
            </a:r>
            <a:r>
              <a:rPr lang="en-US" sz="2100" dirty="0">
                <a:latin typeface="Times New Roman" panose="02020603050405020304" pitchFamily="18" charset="0"/>
                <a:ea typeface="Lora" pitchFamily="34" charset="-122"/>
                <a:cs typeface="Times New Roman" panose="02020603050405020304" pitchFamily="18" charset="0"/>
              </a:rPr>
              <a:t> </a:t>
            </a:r>
            <a:r>
              <a:rPr lang="en-US" sz="2100" dirty="0" err="1">
                <a:latin typeface="Times New Roman" panose="02020603050405020304" pitchFamily="18" charset="0"/>
                <a:ea typeface="Lora" pitchFamily="34" charset="-122"/>
                <a:cs typeface="Times New Roman" panose="02020603050405020304" pitchFamily="18" charset="0"/>
              </a:rPr>
              <a:t>khí</a:t>
            </a:r>
            <a:r>
              <a:rPr lang="en-US" sz="2100" dirty="0">
                <a:latin typeface="Times New Roman" panose="02020603050405020304" pitchFamily="18" charset="0"/>
                <a:ea typeface="Lora" pitchFamily="34" charset="-122"/>
                <a:cs typeface="Times New Roman" panose="02020603050405020304" pitchFamily="18" charset="0"/>
              </a:rPr>
              <a:t> tại Hà Nội.</a:t>
            </a:r>
            <a:endParaRPr lang="en-US" sz="2100" dirty="0">
              <a:latin typeface="Times New Roman" panose="02020603050405020304" pitchFamily="18" charset="0"/>
              <a:cs typeface="Times New Roman" panose="02020603050405020304" pitchFamily="18" charset="0"/>
            </a:endParaRPr>
          </a:p>
        </p:txBody>
      </p:sp>
      <p:sp>
        <p:nvSpPr>
          <p:cNvPr id="7" name="Text 5"/>
          <p:cNvSpPr/>
          <p:nvPr/>
        </p:nvSpPr>
        <p:spPr>
          <a:xfrm>
            <a:off x="6156270" y="1512888"/>
            <a:ext cx="302411" cy="189012"/>
          </a:xfrm>
          <a:prstGeom prst="rect">
            <a:avLst/>
          </a:prstGeom>
          <a:noFill/>
          <a:ln/>
        </p:spPr>
        <p:txBody>
          <a:bodyPr wrap="none" lIns="0" tIns="0" rIns="0" bIns="0" rtlCol="0" anchor="ctr"/>
          <a:lstStyle/>
          <a:p>
            <a:pPr marL="0" indent="0" algn="l">
              <a:lnSpc>
                <a:spcPct val="100000"/>
              </a:lnSpc>
              <a:buNone/>
            </a:pPr>
            <a:r>
              <a:rPr lang="en-US" sz="2100" dirty="0">
                <a:latin typeface="Times New Roman" panose="02020603050405020304" pitchFamily="18" charset="0"/>
                <a:ea typeface="Alice Light" pitchFamily="34" charset="-122"/>
                <a:cs typeface="Times New Roman" panose="02020603050405020304" pitchFamily="18" charset="0"/>
              </a:rPr>
              <a:t>02</a:t>
            </a:r>
            <a:endParaRPr lang="en-US" sz="2100" dirty="0">
              <a:latin typeface="Times New Roman" panose="02020603050405020304" pitchFamily="18" charset="0"/>
              <a:cs typeface="Times New Roman" panose="02020603050405020304" pitchFamily="18" charset="0"/>
            </a:endParaRPr>
          </a:p>
        </p:txBody>
      </p:sp>
      <p:sp>
        <p:nvSpPr>
          <p:cNvPr id="8" name="Shape 6"/>
          <p:cNvSpPr/>
          <p:nvPr/>
        </p:nvSpPr>
        <p:spPr>
          <a:xfrm>
            <a:off x="6156270" y="1750814"/>
            <a:ext cx="5373851" cy="19050"/>
          </a:xfrm>
          <a:prstGeom prst="rect">
            <a:avLst/>
          </a:prstGeom>
          <a:solidFill>
            <a:srgbClr val="1B5F39"/>
          </a:solidFill>
          <a:ln/>
        </p:spPr>
      </p:sp>
      <p:sp>
        <p:nvSpPr>
          <p:cNvPr id="9" name="Text 7"/>
          <p:cNvSpPr/>
          <p:nvPr/>
        </p:nvSpPr>
        <p:spPr>
          <a:xfrm>
            <a:off x="6156270" y="1864519"/>
            <a:ext cx="1890169" cy="236240"/>
          </a:xfrm>
          <a:prstGeom prst="rect">
            <a:avLst/>
          </a:prstGeom>
          <a:noFill/>
          <a:ln/>
        </p:spPr>
        <p:txBody>
          <a:bodyPr wrap="none" lIns="0" tIns="0" rIns="0" bIns="0" rtlCol="0" anchor="t"/>
          <a:lstStyle/>
          <a:p>
            <a:pPr marL="0" indent="0" algn="l">
              <a:lnSpc>
                <a:spcPct val="104000"/>
              </a:lnSpc>
              <a:buNone/>
            </a:pPr>
            <a:endParaRPr lang="en-US" sz="2100" dirty="0">
              <a:latin typeface="Times New Roman" panose="02020603050405020304" pitchFamily="18" charset="0"/>
              <a:cs typeface="Times New Roman" panose="02020603050405020304" pitchFamily="18" charset="0"/>
            </a:endParaRPr>
          </a:p>
        </p:txBody>
      </p:sp>
      <p:sp>
        <p:nvSpPr>
          <p:cNvPr id="10" name="Text 8"/>
          <p:cNvSpPr/>
          <p:nvPr/>
        </p:nvSpPr>
        <p:spPr>
          <a:xfrm>
            <a:off x="6319889" y="1815605"/>
            <a:ext cx="5210232" cy="793055"/>
          </a:xfrm>
          <a:prstGeom prst="rect">
            <a:avLst/>
          </a:prstGeom>
          <a:noFill/>
          <a:ln/>
        </p:spPr>
        <p:txBody>
          <a:bodyPr wrap="square" lIns="0" tIns="0" rIns="0" bIns="0" rtlCol="0" anchor="t">
            <a:noAutofit/>
          </a:bodyPr>
          <a:lstStyle/>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Phân tích chỉ số PM2.5 trong giai đoạn từ ngày 14/02/2024 đến </a:t>
            </a:r>
            <a:r>
              <a:rPr lang="en-US" sz="2100" dirty="0" err="1">
                <a:latin typeface="Times New Roman" panose="02020603050405020304" pitchFamily="18" charset="0"/>
                <a:ea typeface="Lora" pitchFamily="34" charset="-122"/>
                <a:cs typeface="Times New Roman" panose="02020603050405020304" pitchFamily="18" charset="0"/>
              </a:rPr>
              <a:t>ngày</a:t>
            </a:r>
            <a:r>
              <a:rPr lang="en-US" sz="2100" dirty="0">
                <a:latin typeface="Times New Roman" panose="02020603050405020304" pitchFamily="18" charset="0"/>
                <a:ea typeface="Lora" pitchFamily="34" charset="-122"/>
                <a:cs typeface="Times New Roman" panose="02020603050405020304" pitchFamily="18" charset="0"/>
              </a:rPr>
              <a:t> </a:t>
            </a:r>
            <a:r>
              <a:rPr lang="vi-VN" sz="2100" dirty="0">
                <a:latin typeface="Times New Roman" panose="02020603050405020304" pitchFamily="18" charset="0"/>
                <a:ea typeface="Lora" pitchFamily="34" charset="-122"/>
                <a:cs typeface="Times New Roman" panose="02020603050405020304" pitchFamily="18" charset="0"/>
              </a:rPr>
              <a:t>26a</a:t>
            </a:r>
            <a:r>
              <a:rPr lang="en-US" sz="2100" dirty="0">
                <a:latin typeface="Times New Roman" panose="02020603050405020304" pitchFamily="18" charset="0"/>
                <a:ea typeface="Lora" pitchFamily="34" charset="-122"/>
                <a:cs typeface="Times New Roman" panose="02020603050405020304" pitchFamily="18" charset="0"/>
              </a:rPr>
              <a:t>/01/2026.</a:t>
            </a:r>
            <a:endParaRPr lang="en-US" sz="2100" dirty="0">
              <a:latin typeface="Times New Roman" panose="02020603050405020304" pitchFamily="18" charset="0"/>
              <a:cs typeface="Times New Roman" panose="02020603050405020304" pitchFamily="18" charset="0"/>
            </a:endParaRPr>
          </a:p>
        </p:txBody>
      </p:sp>
      <p:sp>
        <p:nvSpPr>
          <p:cNvPr id="11" name="Text 9"/>
          <p:cNvSpPr/>
          <p:nvPr/>
        </p:nvSpPr>
        <p:spPr>
          <a:xfrm>
            <a:off x="661574" y="2843014"/>
            <a:ext cx="302411" cy="189012"/>
          </a:xfrm>
          <a:prstGeom prst="rect">
            <a:avLst/>
          </a:prstGeom>
          <a:noFill/>
          <a:ln/>
        </p:spPr>
        <p:txBody>
          <a:bodyPr wrap="none" lIns="0" tIns="0" rIns="0" bIns="0" rtlCol="0" anchor="ctr"/>
          <a:lstStyle/>
          <a:p>
            <a:pPr marL="0" indent="0" algn="l">
              <a:lnSpc>
                <a:spcPct val="100000"/>
              </a:lnSpc>
              <a:buNone/>
            </a:pPr>
            <a:r>
              <a:rPr lang="en-US" sz="2100" dirty="0">
                <a:latin typeface="Times New Roman" panose="02020603050405020304" pitchFamily="18" charset="0"/>
                <a:ea typeface="Alice Light" pitchFamily="34" charset="-122"/>
                <a:cs typeface="Times New Roman" panose="02020603050405020304" pitchFamily="18" charset="0"/>
              </a:rPr>
              <a:t>03</a:t>
            </a:r>
            <a:endParaRPr lang="en-US" sz="2100" dirty="0">
              <a:latin typeface="Times New Roman" panose="02020603050405020304" pitchFamily="18" charset="0"/>
              <a:cs typeface="Times New Roman" panose="02020603050405020304" pitchFamily="18" charset="0"/>
            </a:endParaRPr>
          </a:p>
        </p:txBody>
      </p:sp>
      <p:sp>
        <p:nvSpPr>
          <p:cNvPr id="12" name="Shape 10"/>
          <p:cNvSpPr/>
          <p:nvPr/>
        </p:nvSpPr>
        <p:spPr>
          <a:xfrm>
            <a:off x="661574" y="3080941"/>
            <a:ext cx="5373752" cy="19050"/>
          </a:xfrm>
          <a:prstGeom prst="rect">
            <a:avLst/>
          </a:prstGeom>
          <a:solidFill>
            <a:srgbClr val="1B5F39"/>
          </a:solidFill>
          <a:ln/>
        </p:spPr>
      </p:sp>
      <p:sp>
        <p:nvSpPr>
          <p:cNvPr id="13" name="Text 11"/>
          <p:cNvSpPr/>
          <p:nvPr/>
        </p:nvSpPr>
        <p:spPr>
          <a:xfrm>
            <a:off x="661574" y="3194645"/>
            <a:ext cx="2351525" cy="236240"/>
          </a:xfrm>
          <a:prstGeom prst="rect">
            <a:avLst/>
          </a:prstGeom>
          <a:noFill/>
          <a:ln/>
        </p:spPr>
        <p:txBody>
          <a:bodyPr wrap="none" lIns="0" tIns="0" rIns="0" bIns="0" rtlCol="0" anchor="t"/>
          <a:lstStyle/>
          <a:p>
            <a:pPr marL="0" indent="0" algn="l">
              <a:lnSpc>
                <a:spcPct val="104000"/>
              </a:lnSpc>
              <a:buNone/>
            </a:pPr>
            <a:endParaRPr lang="en-US" sz="2100" dirty="0">
              <a:latin typeface="Times New Roman" panose="02020603050405020304" pitchFamily="18" charset="0"/>
              <a:cs typeface="Times New Roman" panose="02020603050405020304" pitchFamily="18" charset="0"/>
            </a:endParaRPr>
          </a:p>
        </p:txBody>
      </p:sp>
      <p:sp>
        <p:nvSpPr>
          <p:cNvPr id="14" name="Text 12"/>
          <p:cNvSpPr/>
          <p:nvPr/>
        </p:nvSpPr>
        <p:spPr>
          <a:xfrm>
            <a:off x="722321" y="3145732"/>
            <a:ext cx="5210230" cy="688576"/>
          </a:xfrm>
          <a:prstGeom prst="rect">
            <a:avLst/>
          </a:prstGeom>
          <a:noFill/>
          <a:ln/>
        </p:spPr>
        <p:txBody>
          <a:bodyPr wrap="none" lIns="0" tIns="0" rIns="0" bIns="0" rtlCol="0" anchor="t"/>
          <a:lstStyle/>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Xác định số ngày PM2.5 trung bình </a:t>
            </a:r>
            <a:r>
              <a:rPr lang="en-US" sz="2100" dirty="0" err="1">
                <a:latin typeface="Times New Roman" panose="02020603050405020304" pitchFamily="18" charset="0"/>
                <a:ea typeface="Lora" pitchFamily="34" charset="-122"/>
                <a:cs typeface="Times New Roman" panose="02020603050405020304" pitchFamily="18" charset="0"/>
              </a:rPr>
              <a:t>vượt</a:t>
            </a:r>
            <a:r>
              <a:rPr lang="en-US" sz="2100" dirty="0">
                <a:latin typeface="Times New Roman" panose="02020603050405020304" pitchFamily="18" charset="0"/>
                <a:ea typeface="Lora" pitchFamily="34" charset="-122"/>
                <a:cs typeface="Times New Roman" panose="02020603050405020304" pitchFamily="18" charset="0"/>
              </a:rPr>
              <a:t> </a:t>
            </a:r>
            <a:endParaRPr lang="vi-VN" sz="2100" dirty="0">
              <a:latin typeface="Times New Roman" panose="02020603050405020304" pitchFamily="18" charset="0"/>
              <a:ea typeface="Lora" pitchFamily="34" charset="-122"/>
              <a:cs typeface="Times New Roman" panose="02020603050405020304" pitchFamily="18" charset="0"/>
            </a:endParaRPr>
          </a:p>
          <a:p>
            <a:pPr marL="0" indent="0" algn="l">
              <a:lnSpc>
                <a:spcPct val="120000"/>
              </a:lnSpc>
              <a:buNone/>
            </a:pPr>
            <a:r>
              <a:rPr lang="en-US" sz="2100" dirty="0" err="1">
                <a:latin typeface="Times New Roman" panose="02020603050405020304" pitchFamily="18" charset="0"/>
                <a:ea typeface="Lora" pitchFamily="34" charset="-122"/>
                <a:cs typeface="Times New Roman" panose="02020603050405020304" pitchFamily="18" charset="0"/>
              </a:rPr>
              <a:t>ngưỡng</a:t>
            </a:r>
            <a:r>
              <a:rPr lang="en-US" sz="2100" dirty="0">
                <a:latin typeface="Times New Roman" panose="02020603050405020304" pitchFamily="18" charset="0"/>
                <a:ea typeface="Lora" pitchFamily="34" charset="-122"/>
                <a:cs typeface="Times New Roman" panose="02020603050405020304" pitchFamily="18" charset="0"/>
              </a:rPr>
              <a:t> 50 µg/m³.</a:t>
            </a:r>
            <a:endParaRPr lang="en-US" sz="2100" dirty="0">
              <a:latin typeface="Times New Roman" panose="02020603050405020304" pitchFamily="18" charset="0"/>
              <a:cs typeface="Times New Roman" panose="02020603050405020304" pitchFamily="18" charset="0"/>
            </a:endParaRPr>
          </a:p>
        </p:txBody>
      </p:sp>
      <p:sp>
        <p:nvSpPr>
          <p:cNvPr id="15" name="Text 13"/>
          <p:cNvSpPr/>
          <p:nvPr/>
        </p:nvSpPr>
        <p:spPr>
          <a:xfrm>
            <a:off x="6156270" y="2843014"/>
            <a:ext cx="302411" cy="189012"/>
          </a:xfrm>
          <a:prstGeom prst="rect">
            <a:avLst/>
          </a:prstGeom>
          <a:noFill/>
          <a:ln/>
        </p:spPr>
        <p:txBody>
          <a:bodyPr wrap="none" lIns="0" tIns="0" rIns="0" bIns="0" rtlCol="0" anchor="ctr"/>
          <a:lstStyle/>
          <a:p>
            <a:pPr marL="0" indent="0" algn="l">
              <a:lnSpc>
                <a:spcPct val="100000"/>
              </a:lnSpc>
              <a:buNone/>
            </a:pPr>
            <a:r>
              <a:rPr lang="en-US" sz="2100" dirty="0">
                <a:latin typeface="Times New Roman" panose="02020603050405020304" pitchFamily="18" charset="0"/>
                <a:ea typeface="Alice Light" pitchFamily="34" charset="-122"/>
                <a:cs typeface="Times New Roman" panose="02020603050405020304" pitchFamily="18" charset="0"/>
              </a:rPr>
              <a:t>04</a:t>
            </a:r>
            <a:endParaRPr lang="en-US" sz="2100" dirty="0">
              <a:latin typeface="Times New Roman" panose="02020603050405020304" pitchFamily="18" charset="0"/>
              <a:cs typeface="Times New Roman" panose="02020603050405020304" pitchFamily="18" charset="0"/>
            </a:endParaRPr>
          </a:p>
        </p:txBody>
      </p:sp>
      <p:sp>
        <p:nvSpPr>
          <p:cNvPr id="16" name="Shape 14"/>
          <p:cNvSpPr/>
          <p:nvPr/>
        </p:nvSpPr>
        <p:spPr>
          <a:xfrm>
            <a:off x="6156270" y="3080941"/>
            <a:ext cx="5373851" cy="19050"/>
          </a:xfrm>
          <a:prstGeom prst="rect">
            <a:avLst/>
          </a:prstGeom>
          <a:solidFill>
            <a:srgbClr val="1B5F39"/>
          </a:solidFill>
          <a:ln/>
        </p:spPr>
      </p:sp>
      <p:sp>
        <p:nvSpPr>
          <p:cNvPr id="18" name="Text 16"/>
          <p:cNvSpPr/>
          <p:nvPr/>
        </p:nvSpPr>
        <p:spPr>
          <a:xfrm>
            <a:off x="6156271" y="3254365"/>
            <a:ext cx="5210230" cy="807740"/>
          </a:xfrm>
          <a:prstGeom prst="rect">
            <a:avLst/>
          </a:prstGeom>
          <a:noFill/>
          <a:ln/>
        </p:spPr>
        <p:txBody>
          <a:bodyPr wrap="none" lIns="0" tIns="0" rIns="0" bIns="0" rtlCol="0" anchor="t"/>
          <a:lstStyle/>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Tìm khung giờ trong ngày thường có PM2.5 cao nhất.</a:t>
            </a:r>
            <a:endParaRPr lang="en-US" sz="2100" dirty="0">
              <a:latin typeface="Times New Roman" panose="02020603050405020304" pitchFamily="18" charset="0"/>
              <a:cs typeface="Times New Roman" panose="02020603050405020304" pitchFamily="18" charset="0"/>
            </a:endParaRPr>
          </a:p>
        </p:txBody>
      </p:sp>
      <p:sp>
        <p:nvSpPr>
          <p:cNvPr id="19" name="Text 17"/>
          <p:cNvSpPr/>
          <p:nvPr/>
        </p:nvSpPr>
        <p:spPr>
          <a:xfrm>
            <a:off x="661574" y="3955455"/>
            <a:ext cx="302411" cy="189012"/>
          </a:xfrm>
          <a:prstGeom prst="rect">
            <a:avLst/>
          </a:prstGeom>
          <a:noFill/>
          <a:ln/>
        </p:spPr>
        <p:txBody>
          <a:bodyPr wrap="none" lIns="0" tIns="0" rIns="0" bIns="0" rtlCol="0" anchor="ctr"/>
          <a:lstStyle/>
          <a:p>
            <a:pPr marL="0" indent="0" algn="l">
              <a:lnSpc>
                <a:spcPct val="100000"/>
              </a:lnSpc>
              <a:buNone/>
            </a:pPr>
            <a:r>
              <a:rPr lang="en-US" sz="2100" dirty="0">
                <a:latin typeface="Times New Roman" panose="02020603050405020304" pitchFamily="18" charset="0"/>
                <a:ea typeface="Alice Light" pitchFamily="34" charset="-122"/>
                <a:cs typeface="Times New Roman" panose="02020603050405020304" pitchFamily="18" charset="0"/>
              </a:rPr>
              <a:t>05</a:t>
            </a:r>
            <a:endParaRPr lang="en-US" sz="2100" dirty="0">
              <a:latin typeface="Times New Roman" panose="02020603050405020304" pitchFamily="18" charset="0"/>
              <a:cs typeface="Times New Roman" panose="02020603050405020304" pitchFamily="18" charset="0"/>
            </a:endParaRPr>
          </a:p>
        </p:txBody>
      </p:sp>
      <p:sp>
        <p:nvSpPr>
          <p:cNvPr id="20" name="Shape 18"/>
          <p:cNvSpPr/>
          <p:nvPr/>
        </p:nvSpPr>
        <p:spPr>
          <a:xfrm>
            <a:off x="661574" y="4193381"/>
            <a:ext cx="5373752" cy="19050"/>
          </a:xfrm>
          <a:prstGeom prst="rect">
            <a:avLst/>
          </a:prstGeom>
          <a:solidFill>
            <a:srgbClr val="1B5F39"/>
          </a:solidFill>
          <a:ln/>
        </p:spPr>
      </p:sp>
      <p:sp>
        <p:nvSpPr>
          <p:cNvPr id="21" name="Text 19"/>
          <p:cNvSpPr/>
          <p:nvPr/>
        </p:nvSpPr>
        <p:spPr>
          <a:xfrm>
            <a:off x="661574" y="4307086"/>
            <a:ext cx="2374146" cy="236240"/>
          </a:xfrm>
          <a:prstGeom prst="rect">
            <a:avLst/>
          </a:prstGeom>
          <a:noFill/>
          <a:ln/>
        </p:spPr>
        <p:txBody>
          <a:bodyPr wrap="none" lIns="0" tIns="0" rIns="0" bIns="0" rtlCol="0" anchor="t"/>
          <a:lstStyle/>
          <a:p>
            <a:pPr marL="0" indent="0" algn="l">
              <a:lnSpc>
                <a:spcPct val="104000"/>
              </a:lnSpc>
              <a:buNone/>
            </a:pPr>
            <a:endParaRPr lang="en-US" sz="2100" dirty="0">
              <a:latin typeface="Times New Roman" panose="02020603050405020304" pitchFamily="18" charset="0"/>
              <a:cs typeface="Times New Roman" panose="02020603050405020304" pitchFamily="18" charset="0"/>
            </a:endParaRPr>
          </a:p>
        </p:txBody>
      </p:sp>
      <p:sp>
        <p:nvSpPr>
          <p:cNvPr id="22" name="Text 20"/>
          <p:cNvSpPr/>
          <p:nvPr/>
        </p:nvSpPr>
        <p:spPr>
          <a:xfrm>
            <a:off x="661574" y="4261345"/>
            <a:ext cx="5270978" cy="713582"/>
          </a:xfrm>
          <a:prstGeom prst="rect">
            <a:avLst/>
          </a:prstGeom>
          <a:noFill/>
          <a:ln/>
        </p:spPr>
        <p:txBody>
          <a:bodyPr wrap="none" lIns="0" tIns="0" rIns="0" bIns="0" rtlCol="0" anchor="t"/>
          <a:lstStyle/>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Phân tích điều kiện thời tiết </a:t>
            </a:r>
            <a:r>
              <a:rPr lang="en-US" sz="2100" dirty="0" err="1">
                <a:latin typeface="Times New Roman" panose="02020603050405020304" pitchFamily="18" charset="0"/>
                <a:ea typeface="Lora" pitchFamily="34" charset="-122"/>
                <a:cs typeface="Times New Roman" panose="02020603050405020304" pitchFamily="18" charset="0"/>
              </a:rPr>
              <a:t>khi</a:t>
            </a:r>
            <a:r>
              <a:rPr lang="en-US" sz="2100" dirty="0">
                <a:latin typeface="Times New Roman" panose="02020603050405020304" pitchFamily="18" charset="0"/>
                <a:ea typeface="Lora" pitchFamily="34" charset="-122"/>
                <a:cs typeface="Times New Roman" panose="02020603050405020304" pitchFamily="18" charset="0"/>
              </a:rPr>
              <a:t> PM2.5 </a:t>
            </a:r>
            <a:endParaRPr lang="vi-VN" sz="2100" dirty="0">
              <a:latin typeface="Times New Roman" panose="02020603050405020304" pitchFamily="18" charset="0"/>
              <a:ea typeface="Lora" pitchFamily="34" charset="-122"/>
              <a:cs typeface="Times New Roman" panose="02020603050405020304" pitchFamily="18" charset="0"/>
            </a:endParaRPr>
          </a:p>
          <a:p>
            <a:pPr marL="0" indent="0" algn="l">
              <a:lnSpc>
                <a:spcPct val="120000"/>
              </a:lnSpc>
              <a:buNone/>
            </a:pPr>
            <a:r>
              <a:rPr lang="en-US" sz="2100" dirty="0" err="1">
                <a:latin typeface="Times New Roman" panose="02020603050405020304" pitchFamily="18" charset="0"/>
                <a:ea typeface="Lora" pitchFamily="34" charset="-122"/>
                <a:cs typeface="Times New Roman" panose="02020603050405020304" pitchFamily="18" charset="0"/>
              </a:rPr>
              <a:t>vượt</a:t>
            </a:r>
            <a:r>
              <a:rPr lang="en-US" sz="2100" dirty="0">
                <a:latin typeface="Times New Roman" panose="02020603050405020304" pitchFamily="18" charset="0"/>
                <a:ea typeface="Lora" pitchFamily="34" charset="-122"/>
                <a:cs typeface="Times New Roman" panose="02020603050405020304" pitchFamily="18" charset="0"/>
              </a:rPr>
              <a:t> ngưỡng.</a:t>
            </a:r>
            <a:endParaRPr lang="en-US" sz="2100" dirty="0">
              <a:latin typeface="Times New Roman" panose="02020603050405020304" pitchFamily="18" charset="0"/>
              <a:cs typeface="Times New Roman" panose="02020603050405020304" pitchFamily="18" charset="0"/>
            </a:endParaRPr>
          </a:p>
        </p:txBody>
      </p:sp>
      <p:sp>
        <p:nvSpPr>
          <p:cNvPr id="23" name="Text 21"/>
          <p:cNvSpPr/>
          <p:nvPr/>
        </p:nvSpPr>
        <p:spPr>
          <a:xfrm>
            <a:off x="6156270" y="3955455"/>
            <a:ext cx="302411" cy="189012"/>
          </a:xfrm>
          <a:prstGeom prst="rect">
            <a:avLst/>
          </a:prstGeom>
          <a:noFill/>
          <a:ln/>
        </p:spPr>
        <p:txBody>
          <a:bodyPr wrap="none" lIns="0" tIns="0" rIns="0" bIns="0" rtlCol="0" anchor="ctr"/>
          <a:lstStyle/>
          <a:p>
            <a:pPr marL="0" indent="0" algn="l">
              <a:lnSpc>
                <a:spcPct val="100000"/>
              </a:lnSpc>
              <a:buNone/>
            </a:pPr>
            <a:r>
              <a:rPr lang="en-US" sz="2100" dirty="0">
                <a:latin typeface="Times New Roman" panose="02020603050405020304" pitchFamily="18" charset="0"/>
                <a:ea typeface="Alice Light" pitchFamily="34" charset="-122"/>
                <a:cs typeface="Times New Roman" panose="02020603050405020304" pitchFamily="18" charset="0"/>
              </a:rPr>
              <a:t>06</a:t>
            </a:r>
            <a:endParaRPr lang="en-US" sz="2100" dirty="0">
              <a:latin typeface="Times New Roman" panose="02020603050405020304" pitchFamily="18" charset="0"/>
              <a:cs typeface="Times New Roman" panose="02020603050405020304" pitchFamily="18" charset="0"/>
            </a:endParaRPr>
          </a:p>
        </p:txBody>
      </p:sp>
      <p:sp>
        <p:nvSpPr>
          <p:cNvPr id="24" name="Shape 22"/>
          <p:cNvSpPr/>
          <p:nvPr/>
        </p:nvSpPr>
        <p:spPr>
          <a:xfrm>
            <a:off x="6156270" y="4193381"/>
            <a:ext cx="5373851" cy="19050"/>
          </a:xfrm>
          <a:prstGeom prst="rect">
            <a:avLst/>
          </a:prstGeom>
          <a:solidFill>
            <a:srgbClr val="1B5F39"/>
          </a:solidFill>
          <a:ln/>
        </p:spPr>
      </p:sp>
      <p:sp>
        <p:nvSpPr>
          <p:cNvPr id="25" name="Text 23"/>
          <p:cNvSpPr/>
          <p:nvPr/>
        </p:nvSpPr>
        <p:spPr>
          <a:xfrm>
            <a:off x="6156270" y="4307086"/>
            <a:ext cx="2683899" cy="236240"/>
          </a:xfrm>
          <a:prstGeom prst="rect">
            <a:avLst/>
          </a:prstGeom>
          <a:noFill/>
          <a:ln/>
        </p:spPr>
        <p:txBody>
          <a:bodyPr wrap="none" lIns="0" tIns="0" rIns="0" bIns="0" rtlCol="0" anchor="t"/>
          <a:lstStyle/>
          <a:p>
            <a:pPr marL="0" indent="0" algn="l">
              <a:lnSpc>
                <a:spcPct val="104000"/>
              </a:lnSpc>
              <a:buNone/>
            </a:pPr>
            <a:endParaRPr lang="en-US" sz="2100" dirty="0">
              <a:latin typeface="Times New Roman" panose="02020603050405020304" pitchFamily="18" charset="0"/>
              <a:cs typeface="Times New Roman" panose="02020603050405020304" pitchFamily="18" charset="0"/>
            </a:endParaRPr>
          </a:p>
        </p:txBody>
      </p:sp>
      <p:sp>
        <p:nvSpPr>
          <p:cNvPr id="26" name="Text 24"/>
          <p:cNvSpPr/>
          <p:nvPr/>
        </p:nvSpPr>
        <p:spPr>
          <a:xfrm>
            <a:off x="6319889" y="4239122"/>
            <a:ext cx="5210232" cy="594419"/>
          </a:xfrm>
          <a:prstGeom prst="rect">
            <a:avLst/>
          </a:prstGeom>
          <a:noFill/>
          <a:ln/>
        </p:spPr>
        <p:txBody>
          <a:bodyPr wrap="none" lIns="0" tIns="0" rIns="0" bIns="0" rtlCol="0" anchor="t"/>
          <a:lstStyle/>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Đánh giá sự thay đổi PM2.5 theo </a:t>
            </a:r>
            <a:r>
              <a:rPr lang="en-US" sz="2100" dirty="0" err="1">
                <a:latin typeface="Times New Roman" panose="02020603050405020304" pitchFamily="18" charset="0"/>
                <a:ea typeface="Lora" pitchFamily="34" charset="-122"/>
                <a:cs typeface="Times New Roman" panose="02020603050405020304" pitchFamily="18" charset="0"/>
              </a:rPr>
              <a:t>mùa</a:t>
            </a:r>
            <a:r>
              <a:rPr lang="en-US" sz="2100" dirty="0">
                <a:latin typeface="Times New Roman" panose="02020603050405020304" pitchFamily="18" charset="0"/>
                <a:ea typeface="Lora" pitchFamily="34" charset="-122"/>
                <a:cs typeface="Times New Roman" panose="02020603050405020304" pitchFamily="18" charset="0"/>
              </a:rPr>
              <a:t> </a:t>
            </a:r>
            <a:r>
              <a:rPr lang="en-US" sz="2100" dirty="0" err="1">
                <a:latin typeface="Times New Roman" panose="02020603050405020304" pitchFamily="18" charset="0"/>
                <a:ea typeface="Lora" pitchFamily="34" charset="-122"/>
                <a:cs typeface="Times New Roman" panose="02020603050405020304" pitchFamily="18" charset="0"/>
              </a:rPr>
              <a:t>và</a:t>
            </a:r>
            <a:endParaRPr lang="vi-VN" sz="2100" dirty="0">
              <a:latin typeface="Times New Roman" panose="02020603050405020304" pitchFamily="18" charset="0"/>
              <a:ea typeface="Lora" pitchFamily="34" charset="-122"/>
              <a:cs typeface="Times New Roman" panose="02020603050405020304" pitchFamily="18" charset="0"/>
            </a:endParaRPr>
          </a:p>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 xu hướng theo thời gian.</a:t>
            </a:r>
            <a:endParaRPr lang="en-US" sz="2100" dirty="0">
              <a:latin typeface="Times New Roman" panose="02020603050405020304" pitchFamily="18" charset="0"/>
              <a:cs typeface="Times New Roman" panose="02020603050405020304" pitchFamily="18" charset="0"/>
            </a:endParaRPr>
          </a:p>
        </p:txBody>
      </p:sp>
      <p:sp>
        <p:nvSpPr>
          <p:cNvPr id="27" name="Text 25"/>
          <p:cNvSpPr/>
          <p:nvPr/>
        </p:nvSpPr>
        <p:spPr>
          <a:xfrm>
            <a:off x="661574" y="5067895"/>
            <a:ext cx="302411" cy="189012"/>
          </a:xfrm>
          <a:prstGeom prst="rect">
            <a:avLst/>
          </a:prstGeom>
          <a:noFill/>
          <a:ln/>
        </p:spPr>
        <p:txBody>
          <a:bodyPr wrap="none" lIns="0" tIns="0" rIns="0" bIns="0" rtlCol="0" anchor="ctr"/>
          <a:lstStyle/>
          <a:p>
            <a:pPr marL="0" indent="0" algn="l">
              <a:lnSpc>
                <a:spcPct val="100000"/>
              </a:lnSpc>
              <a:buNone/>
            </a:pPr>
            <a:r>
              <a:rPr lang="en-US" sz="2100" dirty="0">
                <a:latin typeface="Times New Roman" panose="02020603050405020304" pitchFamily="18" charset="0"/>
                <a:ea typeface="Alice Light" pitchFamily="34" charset="-122"/>
                <a:cs typeface="Times New Roman" panose="02020603050405020304" pitchFamily="18" charset="0"/>
              </a:rPr>
              <a:t>07</a:t>
            </a:r>
            <a:endParaRPr lang="en-US" sz="2100" dirty="0">
              <a:latin typeface="Times New Roman" panose="02020603050405020304" pitchFamily="18" charset="0"/>
              <a:cs typeface="Times New Roman" panose="02020603050405020304" pitchFamily="18" charset="0"/>
            </a:endParaRPr>
          </a:p>
        </p:txBody>
      </p:sp>
      <p:sp>
        <p:nvSpPr>
          <p:cNvPr id="28" name="Shape 26"/>
          <p:cNvSpPr/>
          <p:nvPr/>
        </p:nvSpPr>
        <p:spPr>
          <a:xfrm>
            <a:off x="661574" y="5305822"/>
            <a:ext cx="5373752" cy="19050"/>
          </a:xfrm>
          <a:prstGeom prst="rect">
            <a:avLst/>
          </a:prstGeom>
          <a:solidFill>
            <a:srgbClr val="1B5F39"/>
          </a:solidFill>
          <a:ln/>
        </p:spPr>
      </p:sp>
      <p:sp>
        <p:nvSpPr>
          <p:cNvPr id="30" name="Text 28"/>
          <p:cNvSpPr/>
          <p:nvPr/>
        </p:nvSpPr>
        <p:spPr>
          <a:xfrm>
            <a:off x="661574" y="5419528"/>
            <a:ext cx="4824826" cy="785514"/>
          </a:xfrm>
          <a:prstGeom prst="rect">
            <a:avLst/>
          </a:prstGeom>
          <a:noFill/>
          <a:ln/>
        </p:spPr>
        <p:txBody>
          <a:bodyPr wrap="none" lIns="0" tIns="0" rIns="0" bIns="0" rtlCol="0" anchor="t"/>
          <a:lstStyle/>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Dự đoán PM2.5 trung bình cho 06 </a:t>
            </a:r>
            <a:r>
              <a:rPr lang="en-US" sz="2100" dirty="0" err="1">
                <a:latin typeface="Times New Roman" panose="02020603050405020304" pitchFamily="18" charset="0"/>
                <a:ea typeface="Lora" pitchFamily="34" charset="-122"/>
                <a:cs typeface="Times New Roman" panose="02020603050405020304" pitchFamily="18" charset="0"/>
              </a:rPr>
              <a:t>tháng</a:t>
            </a:r>
            <a:r>
              <a:rPr lang="en-US" sz="2100" dirty="0">
                <a:latin typeface="Times New Roman" panose="02020603050405020304" pitchFamily="18" charset="0"/>
                <a:ea typeface="Lora" pitchFamily="34" charset="-122"/>
                <a:cs typeface="Times New Roman" panose="02020603050405020304" pitchFamily="18" charset="0"/>
              </a:rPr>
              <a:t> </a:t>
            </a:r>
            <a:endParaRPr lang="vi-VN" sz="2100" dirty="0">
              <a:latin typeface="Times New Roman" panose="02020603050405020304" pitchFamily="18" charset="0"/>
              <a:ea typeface="Lora" pitchFamily="34" charset="-122"/>
              <a:cs typeface="Times New Roman" panose="02020603050405020304" pitchFamily="18" charset="0"/>
            </a:endParaRPr>
          </a:p>
          <a:p>
            <a:pPr marL="0" indent="0" algn="l">
              <a:lnSpc>
                <a:spcPct val="120000"/>
              </a:lnSpc>
              <a:buNone/>
            </a:pPr>
            <a:r>
              <a:rPr lang="en-US" sz="2100" dirty="0" err="1">
                <a:latin typeface="Times New Roman" panose="02020603050405020304" pitchFamily="18" charset="0"/>
                <a:ea typeface="Lora" pitchFamily="34" charset="-122"/>
                <a:cs typeface="Times New Roman" panose="02020603050405020304" pitchFamily="18" charset="0"/>
              </a:rPr>
              <a:t>cuối</a:t>
            </a:r>
            <a:r>
              <a:rPr lang="en-US" sz="2100" dirty="0">
                <a:latin typeface="Times New Roman" panose="02020603050405020304" pitchFamily="18" charset="0"/>
                <a:ea typeface="Lora" pitchFamily="34" charset="-122"/>
                <a:cs typeface="Times New Roman" panose="02020603050405020304" pitchFamily="18" charset="0"/>
              </a:rPr>
              <a:t> năm 2026.</a:t>
            </a:r>
            <a:endParaRPr lang="en-US" sz="2100" dirty="0">
              <a:latin typeface="Times New Roman" panose="02020603050405020304" pitchFamily="18" charset="0"/>
              <a:cs typeface="Times New Roman" panose="02020603050405020304" pitchFamily="18" charset="0"/>
            </a:endParaRPr>
          </a:p>
        </p:txBody>
      </p:sp>
      <p:sp>
        <p:nvSpPr>
          <p:cNvPr id="31" name="Text 29"/>
          <p:cNvSpPr/>
          <p:nvPr/>
        </p:nvSpPr>
        <p:spPr>
          <a:xfrm>
            <a:off x="6156270" y="5067895"/>
            <a:ext cx="302411" cy="189012"/>
          </a:xfrm>
          <a:prstGeom prst="rect">
            <a:avLst/>
          </a:prstGeom>
          <a:noFill/>
          <a:ln/>
        </p:spPr>
        <p:txBody>
          <a:bodyPr wrap="none" lIns="0" tIns="0" rIns="0" bIns="0" rtlCol="0" anchor="ctr"/>
          <a:lstStyle/>
          <a:p>
            <a:pPr marL="0" indent="0" algn="l">
              <a:lnSpc>
                <a:spcPct val="100000"/>
              </a:lnSpc>
              <a:buNone/>
            </a:pPr>
            <a:r>
              <a:rPr lang="en-US" sz="2100" dirty="0">
                <a:latin typeface="Times New Roman" panose="02020603050405020304" pitchFamily="18" charset="0"/>
                <a:ea typeface="Alice Light" pitchFamily="34" charset="-122"/>
                <a:cs typeface="Times New Roman" panose="02020603050405020304" pitchFamily="18" charset="0"/>
              </a:rPr>
              <a:t>08</a:t>
            </a:r>
            <a:endParaRPr lang="en-US" sz="2100" dirty="0">
              <a:latin typeface="Times New Roman" panose="02020603050405020304" pitchFamily="18" charset="0"/>
              <a:cs typeface="Times New Roman" panose="02020603050405020304" pitchFamily="18" charset="0"/>
            </a:endParaRPr>
          </a:p>
        </p:txBody>
      </p:sp>
      <p:sp>
        <p:nvSpPr>
          <p:cNvPr id="32" name="Shape 30"/>
          <p:cNvSpPr/>
          <p:nvPr/>
        </p:nvSpPr>
        <p:spPr>
          <a:xfrm>
            <a:off x="6156270" y="5305822"/>
            <a:ext cx="5373851" cy="19050"/>
          </a:xfrm>
          <a:prstGeom prst="rect">
            <a:avLst/>
          </a:prstGeom>
          <a:solidFill>
            <a:srgbClr val="1B5F39"/>
          </a:solidFill>
          <a:ln/>
        </p:spPr>
      </p:sp>
      <p:sp>
        <p:nvSpPr>
          <p:cNvPr id="33" name="Text 31"/>
          <p:cNvSpPr/>
          <p:nvPr/>
        </p:nvSpPr>
        <p:spPr>
          <a:xfrm>
            <a:off x="6156270" y="5419527"/>
            <a:ext cx="1890169" cy="236240"/>
          </a:xfrm>
          <a:prstGeom prst="rect">
            <a:avLst/>
          </a:prstGeom>
          <a:noFill/>
          <a:ln/>
        </p:spPr>
        <p:txBody>
          <a:bodyPr wrap="none" lIns="0" tIns="0" rIns="0" bIns="0" rtlCol="0" anchor="t"/>
          <a:lstStyle/>
          <a:p>
            <a:pPr marL="0" indent="0" algn="l">
              <a:lnSpc>
                <a:spcPct val="104000"/>
              </a:lnSpc>
              <a:buNone/>
            </a:pPr>
            <a:endParaRPr lang="en-US" sz="2100" dirty="0">
              <a:latin typeface="Times New Roman" panose="02020603050405020304" pitchFamily="18" charset="0"/>
              <a:cs typeface="Times New Roman" panose="02020603050405020304" pitchFamily="18" charset="0"/>
            </a:endParaRPr>
          </a:p>
        </p:txBody>
      </p:sp>
      <p:sp>
        <p:nvSpPr>
          <p:cNvPr id="34" name="Text 32"/>
          <p:cNvSpPr/>
          <p:nvPr/>
        </p:nvSpPr>
        <p:spPr>
          <a:xfrm>
            <a:off x="6458681" y="5305821"/>
            <a:ext cx="4625190" cy="1116489"/>
          </a:xfrm>
          <a:prstGeom prst="rect">
            <a:avLst/>
          </a:prstGeom>
          <a:noFill/>
          <a:ln/>
        </p:spPr>
        <p:txBody>
          <a:bodyPr wrap="none" lIns="0" tIns="0" rIns="0" bIns="0" rtlCol="0" anchor="t"/>
          <a:lstStyle/>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Phân nhóm PM2.5 thành 03 </a:t>
            </a:r>
            <a:r>
              <a:rPr lang="en-US" sz="2100" dirty="0" err="1">
                <a:latin typeface="Times New Roman" panose="02020603050405020304" pitchFamily="18" charset="0"/>
                <a:ea typeface="Lora" pitchFamily="34" charset="-122"/>
                <a:cs typeface="Times New Roman" panose="02020603050405020304" pitchFamily="18" charset="0"/>
              </a:rPr>
              <a:t>mức</a:t>
            </a:r>
            <a:endParaRPr lang="vi-VN" sz="2100" dirty="0">
              <a:latin typeface="Times New Roman" panose="02020603050405020304" pitchFamily="18" charset="0"/>
              <a:ea typeface="Lora" pitchFamily="34" charset="-122"/>
              <a:cs typeface="Times New Roman" panose="02020603050405020304" pitchFamily="18" charset="0"/>
            </a:endParaRPr>
          </a:p>
          <a:p>
            <a:pPr marL="0" indent="0" algn="l">
              <a:lnSpc>
                <a:spcPct val="120000"/>
              </a:lnSpc>
              <a:buNone/>
            </a:pPr>
            <a:r>
              <a:rPr lang="en-US" sz="2100" dirty="0">
                <a:latin typeface="Times New Roman" panose="02020603050405020304" pitchFamily="18" charset="0"/>
                <a:ea typeface="Lora" pitchFamily="34" charset="-122"/>
                <a:cs typeface="Times New Roman" panose="02020603050405020304" pitchFamily="18" charset="0"/>
              </a:rPr>
              <a:t>: thấp, trung bình, cao.</a:t>
            </a:r>
            <a:endParaRPr lang="en-US" sz="2100" dirty="0">
              <a:latin typeface="Times New Roman" panose="02020603050405020304" pitchFamily="18" charset="0"/>
              <a:cs typeface="Times New Roman" panose="02020603050405020304" pitchFamily="18" charset="0"/>
            </a:endParaRPr>
          </a:p>
        </p:txBody>
      </p:sp>
      <p:pic>
        <p:nvPicPr>
          <p:cNvPr id="35" name="Picture 34">
            <a:extLst>
              <a:ext uri="{FF2B5EF4-FFF2-40B4-BE49-F238E27FC236}">
                <a16:creationId xmlns:a16="http://schemas.microsoft.com/office/drawing/2014/main" id="{D51926C5-0D20-1454-717E-7C20569AB9C4}"/>
              </a:ext>
            </a:extLst>
          </p:cNvPr>
          <p:cNvPicPr>
            <a:picLocks noChangeAspect="1"/>
          </p:cNvPicPr>
          <p:nvPr/>
        </p:nvPicPr>
        <p:blipFill>
          <a:blip r:embed="rId3"/>
          <a:stretch>
            <a:fillRect/>
          </a:stretch>
        </p:blipFill>
        <p:spPr>
          <a:xfrm>
            <a:off x="11033620" y="6572636"/>
            <a:ext cx="1158380" cy="3066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8694" y="381703"/>
            <a:ext cx="3681122" cy="383977"/>
          </a:xfrm>
          <a:prstGeom prst="rect">
            <a:avLst/>
          </a:prstGeom>
          <a:noFill/>
          <a:ln/>
        </p:spPr>
        <p:txBody>
          <a:bodyPr wrap="none" lIns="0" tIns="0" rIns="0" bIns="0" rtlCol="0" anchor="t"/>
          <a:lstStyle/>
          <a:p>
            <a:pPr marL="0" indent="0" algn="l">
              <a:lnSpc>
                <a:spcPct val="104000"/>
              </a:lnSpc>
              <a:buNone/>
            </a:pPr>
            <a:r>
              <a:rPr lang="en-US" sz="1700" b="1" dirty="0">
                <a:latin typeface="Times New Roman" panose="02020603050405020304" pitchFamily="18" charset="0"/>
                <a:ea typeface="Alice" pitchFamily="34" charset="-122"/>
                <a:cs typeface="Times New Roman" panose="02020603050405020304" pitchFamily="18" charset="0"/>
              </a:rPr>
              <a:t>DỮ LIỆU SỬ DỤNG</a:t>
            </a:r>
            <a:endParaRPr lang="en-US" sz="1700" b="1" dirty="0">
              <a:latin typeface="Times New Roman" panose="02020603050405020304" pitchFamily="18" charset="0"/>
              <a:cs typeface="Times New Roman" panose="02020603050405020304" pitchFamily="18" charset="0"/>
            </a:endParaRPr>
          </a:p>
        </p:txBody>
      </p:sp>
      <p:sp>
        <p:nvSpPr>
          <p:cNvPr id="5" name="Text 2"/>
          <p:cNvSpPr/>
          <p:nvPr/>
        </p:nvSpPr>
        <p:spPr>
          <a:xfrm>
            <a:off x="611172" y="3760490"/>
            <a:ext cx="2312235" cy="117277"/>
          </a:xfrm>
          <a:prstGeom prst="rect">
            <a:avLst/>
          </a:prstGeom>
          <a:noFill/>
          <a:ln/>
        </p:spPr>
        <p:txBody>
          <a:bodyPr wrap="none" lIns="0" tIns="0" rIns="0" bIns="0" rtlCol="0" anchor="t"/>
          <a:lstStyle/>
          <a:p>
            <a:pPr marL="0" indent="0" algn="ctr">
              <a:lnSpc>
                <a:spcPct val="110000"/>
              </a:lnSpc>
              <a:buNone/>
            </a:pPr>
            <a:endParaRPr lang="en-US" sz="1700" dirty="0">
              <a:latin typeface="Times New Roman" panose="02020603050405020304" pitchFamily="18" charset="0"/>
              <a:cs typeface="Times New Roman" panose="02020603050405020304" pitchFamily="18" charset="0"/>
            </a:endParaRPr>
          </a:p>
        </p:txBody>
      </p:sp>
      <p:sp>
        <p:nvSpPr>
          <p:cNvPr id="6" name="Text 3"/>
          <p:cNvSpPr/>
          <p:nvPr/>
        </p:nvSpPr>
        <p:spPr>
          <a:xfrm>
            <a:off x="2714324" y="487657"/>
            <a:ext cx="1944303" cy="556047"/>
          </a:xfrm>
          <a:prstGeom prst="rect">
            <a:avLst/>
          </a:prstGeom>
          <a:noFill/>
          <a:ln/>
        </p:spPr>
        <p:txBody>
          <a:bodyPr wrap="none" lIns="0" tIns="0" rIns="0" bIns="0" rtlCol="0" anchor="t"/>
          <a:lstStyle/>
          <a:p>
            <a:pPr marL="0" indent="0" algn="l">
              <a:lnSpc>
                <a:spcPct val="104000"/>
              </a:lnSpc>
              <a:buNone/>
            </a:pPr>
            <a:endParaRPr lang="en-US" sz="1700" dirty="0">
              <a:latin typeface="Times New Roman" panose="02020603050405020304" pitchFamily="18" charset="0"/>
              <a:cs typeface="Times New Roman" panose="02020603050405020304" pitchFamily="18" charset="0"/>
            </a:endParaRPr>
          </a:p>
        </p:txBody>
      </p:sp>
      <p:sp>
        <p:nvSpPr>
          <p:cNvPr id="7" name="Text 4"/>
          <p:cNvSpPr/>
          <p:nvPr/>
        </p:nvSpPr>
        <p:spPr>
          <a:xfrm>
            <a:off x="611172" y="1122228"/>
            <a:ext cx="5837754" cy="1132546"/>
          </a:xfrm>
          <a:prstGeom prst="rect">
            <a:avLst/>
          </a:prstGeom>
          <a:noFill/>
          <a:ln/>
        </p:spPr>
        <p:txBody>
          <a:bodyPr wrap="square" lIns="0" tIns="0" rIns="0" bIns="0" rtlCol="0" anchor="t">
            <a:noAutofit/>
          </a:bodyPr>
          <a:lstStyle/>
          <a:p>
            <a:pPr marL="342900" indent="-342900" algn="l">
              <a:lnSpc>
                <a:spcPct val="110000"/>
              </a:lnSpc>
              <a:buSzPct val="100000"/>
              <a:buChar char="•"/>
            </a:pPr>
            <a:r>
              <a:rPr lang="en-US" sz="2200" dirty="0">
                <a:latin typeface="Times New Roman" panose="02020603050405020304" pitchFamily="18" charset="0"/>
                <a:ea typeface="Lora" pitchFamily="34" charset="-122"/>
                <a:cs typeface="Times New Roman" panose="02020603050405020304" pitchFamily="18" charset="0"/>
              </a:rPr>
              <a:t>Bộ dữ liệu chất lượng không khí và thời tiết tại Hà Nội</a:t>
            </a:r>
            <a:endParaRPr lang="en-US" sz="2200" dirty="0">
              <a:latin typeface="Times New Roman" panose="02020603050405020304" pitchFamily="18" charset="0"/>
              <a:cs typeface="Times New Roman" panose="02020603050405020304" pitchFamily="18" charset="0"/>
            </a:endParaRPr>
          </a:p>
          <a:p>
            <a:pPr marL="342900" indent="-342900" algn="l">
              <a:lnSpc>
                <a:spcPct val="110000"/>
              </a:lnSpc>
              <a:buSzPct val="100000"/>
              <a:buChar char="•"/>
            </a:pPr>
            <a:r>
              <a:rPr lang="en-US" sz="2200" dirty="0">
                <a:latin typeface="Times New Roman" panose="02020603050405020304" pitchFamily="18" charset="0"/>
                <a:ea typeface="Lora" pitchFamily="34" charset="-122"/>
                <a:cs typeface="Times New Roman" panose="02020603050405020304" pitchFamily="18" charset="0"/>
              </a:rPr>
              <a:t>File sử dụng: </a:t>
            </a:r>
            <a:r>
              <a:rPr lang="en-US" sz="2200" dirty="0">
                <a:highlight>
                  <a:srgbClr val="EFEEEB"/>
                </a:highlight>
                <a:latin typeface="Times New Roman" panose="02020603050405020304" pitchFamily="18" charset="0"/>
                <a:ea typeface="Consolas" pitchFamily="34" charset="-122"/>
                <a:cs typeface="Times New Roman" panose="02020603050405020304" pitchFamily="18" charset="0"/>
              </a:rPr>
              <a:t>hanoi_aqi_ml_ready_fixed.csv</a:t>
            </a:r>
            <a:endParaRPr lang="en-US" sz="2200" dirty="0">
              <a:latin typeface="Times New Roman" panose="02020603050405020304" pitchFamily="18" charset="0"/>
              <a:cs typeface="Times New Roman" panose="02020603050405020304" pitchFamily="18" charset="0"/>
            </a:endParaRPr>
          </a:p>
          <a:p>
            <a:pPr marL="342900" indent="-342900" algn="l">
              <a:lnSpc>
                <a:spcPct val="110000"/>
              </a:lnSpc>
              <a:buSzPct val="100000"/>
              <a:buChar char="•"/>
            </a:pPr>
            <a:r>
              <a:rPr lang="en-US" sz="2200" dirty="0">
                <a:latin typeface="Times New Roman" panose="02020603050405020304" pitchFamily="18" charset="0"/>
                <a:ea typeface="Lora" pitchFamily="34" charset="-122"/>
                <a:cs typeface="Times New Roman" panose="02020603050405020304" pitchFamily="18" charset="0"/>
              </a:rPr>
              <a:t>Khoảng thời gian: </a:t>
            </a:r>
            <a:r>
              <a:rPr lang="en-US" sz="2200" b="1" dirty="0">
                <a:latin typeface="Times New Roman" panose="02020603050405020304" pitchFamily="18" charset="0"/>
                <a:ea typeface="Lora" pitchFamily="34" charset="-122"/>
                <a:cs typeface="Times New Roman" panose="02020603050405020304" pitchFamily="18" charset="0"/>
              </a:rPr>
              <a:t>14/02/2024</a:t>
            </a:r>
            <a:r>
              <a:rPr lang="en-US" sz="2200" dirty="0">
                <a:latin typeface="Times New Roman" panose="02020603050405020304" pitchFamily="18" charset="0"/>
                <a:ea typeface="Lora" pitchFamily="34" charset="-122"/>
                <a:cs typeface="Times New Roman" panose="02020603050405020304" pitchFamily="18" charset="0"/>
              </a:rPr>
              <a:t> đến </a:t>
            </a:r>
            <a:r>
              <a:rPr lang="en-US" sz="2200" b="1" dirty="0">
                <a:latin typeface="Times New Roman" panose="02020603050405020304" pitchFamily="18" charset="0"/>
                <a:ea typeface="Lora" pitchFamily="34" charset="-122"/>
                <a:cs typeface="Times New Roman" panose="02020603050405020304" pitchFamily="18" charset="0"/>
              </a:rPr>
              <a:t>26/01/2026</a:t>
            </a:r>
            <a:endParaRPr lang="en-US" sz="2200" dirty="0">
              <a:latin typeface="Times New Roman" panose="02020603050405020304" pitchFamily="18" charset="0"/>
              <a:cs typeface="Times New Roman" panose="02020603050405020304" pitchFamily="18" charset="0"/>
            </a:endParaRPr>
          </a:p>
        </p:txBody>
      </p:sp>
      <p:sp>
        <p:nvSpPr>
          <p:cNvPr id="8" name="Text 5"/>
          <p:cNvSpPr/>
          <p:nvPr/>
        </p:nvSpPr>
        <p:spPr>
          <a:xfrm>
            <a:off x="7209322" y="1687041"/>
            <a:ext cx="3107298" cy="399256"/>
          </a:xfrm>
          <a:prstGeom prst="rect">
            <a:avLst/>
          </a:prstGeom>
          <a:noFill/>
          <a:ln/>
        </p:spPr>
        <p:txBody>
          <a:bodyPr wrap="none" lIns="0" tIns="0" rIns="0" bIns="0" rtlCol="0" anchor="t"/>
          <a:lstStyle/>
          <a:p>
            <a:pPr marL="0" indent="0" algn="l">
              <a:lnSpc>
                <a:spcPct val="104000"/>
              </a:lnSpc>
              <a:buNone/>
            </a:pPr>
            <a:r>
              <a:rPr lang="en-US" b="1" dirty="0">
                <a:latin typeface="Times New Roman" panose="02020603050405020304" pitchFamily="18" charset="0"/>
                <a:ea typeface="Alice" pitchFamily="34" charset="-122"/>
                <a:cs typeface="Times New Roman" panose="02020603050405020304" pitchFamily="18" charset="0"/>
              </a:rPr>
              <a:t>CÁC TRƯỜNG DỮ LIỆU CHÍNH</a:t>
            </a:r>
            <a:endParaRPr lang="en-US" b="1" dirty="0">
              <a:latin typeface="Times New Roman" panose="02020603050405020304" pitchFamily="18" charset="0"/>
              <a:cs typeface="Times New Roman" panose="02020603050405020304" pitchFamily="18" charset="0"/>
            </a:endParaRPr>
          </a:p>
        </p:txBody>
      </p:sp>
      <p:sp>
        <p:nvSpPr>
          <p:cNvPr id="10" name="Text 7"/>
          <p:cNvSpPr/>
          <p:nvPr/>
        </p:nvSpPr>
        <p:spPr>
          <a:xfrm>
            <a:off x="8056460" y="3052961"/>
            <a:ext cx="2162121" cy="162123"/>
          </a:xfrm>
          <a:prstGeom prst="rect">
            <a:avLst/>
          </a:prstGeom>
          <a:noFill/>
          <a:ln/>
        </p:spPr>
        <p:txBody>
          <a:bodyPr wrap="none" lIns="0" tIns="0" rIns="0" bIns="0" rtlCol="0" anchor="t"/>
          <a:lstStyle/>
          <a:p>
            <a:pPr marL="0" indent="0" algn="l">
              <a:lnSpc>
                <a:spcPct val="110000"/>
              </a:lnSpc>
              <a:buNone/>
            </a:pPr>
            <a:endParaRPr lang="en-US" sz="1700" dirty="0">
              <a:latin typeface="Times New Roman" panose="02020603050405020304" pitchFamily="18" charset="0"/>
              <a:cs typeface="Times New Roman" panose="02020603050405020304" pitchFamily="18" charset="0"/>
            </a:endParaRPr>
          </a:p>
        </p:txBody>
      </p:sp>
      <p:sp>
        <p:nvSpPr>
          <p:cNvPr id="11" name="Text 8"/>
          <p:cNvSpPr/>
          <p:nvPr/>
        </p:nvSpPr>
        <p:spPr>
          <a:xfrm>
            <a:off x="9854656" y="3052961"/>
            <a:ext cx="2162121" cy="162123"/>
          </a:xfrm>
          <a:prstGeom prst="rect">
            <a:avLst/>
          </a:prstGeom>
          <a:noFill/>
          <a:ln/>
        </p:spPr>
        <p:txBody>
          <a:bodyPr wrap="none" lIns="0" tIns="0" rIns="0" bIns="0" rtlCol="0" anchor="t"/>
          <a:lstStyle/>
          <a:p>
            <a:pPr marL="0" indent="0" algn="l">
              <a:lnSpc>
                <a:spcPct val="110000"/>
              </a:lnSpc>
              <a:buNone/>
            </a:pPr>
            <a:endParaRPr lang="en-US" sz="1700" dirty="0">
              <a:latin typeface="Times New Roman" panose="02020603050405020304" pitchFamily="18" charset="0"/>
              <a:cs typeface="Times New Roman" panose="02020603050405020304" pitchFamily="18" charset="0"/>
            </a:endParaRPr>
          </a:p>
        </p:txBody>
      </p:sp>
      <p:sp>
        <p:nvSpPr>
          <p:cNvPr id="13" name="Text 10"/>
          <p:cNvSpPr/>
          <p:nvPr/>
        </p:nvSpPr>
        <p:spPr>
          <a:xfrm>
            <a:off x="9854656" y="3329781"/>
            <a:ext cx="2162121" cy="162123"/>
          </a:xfrm>
          <a:prstGeom prst="rect">
            <a:avLst/>
          </a:prstGeom>
          <a:noFill/>
          <a:ln/>
        </p:spPr>
        <p:txBody>
          <a:bodyPr wrap="none" lIns="0" tIns="0" rIns="0" bIns="0" rtlCol="0" anchor="t"/>
          <a:lstStyle/>
          <a:p>
            <a:pPr marL="0" indent="0" algn="l">
              <a:lnSpc>
                <a:spcPct val="110000"/>
              </a:lnSpc>
              <a:buNone/>
            </a:pPr>
            <a:endParaRPr lang="en-US" sz="1700" dirty="0">
              <a:latin typeface="Times New Roman" panose="02020603050405020304" pitchFamily="18" charset="0"/>
              <a:cs typeface="Times New Roman" panose="02020603050405020304" pitchFamily="18" charset="0"/>
            </a:endParaRPr>
          </a:p>
        </p:txBody>
      </p:sp>
      <p:sp>
        <p:nvSpPr>
          <p:cNvPr id="15" name="Text 12"/>
          <p:cNvSpPr/>
          <p:nvPr/>
        </p:nvSpPr>
        <p:spPr>
          <a:xfrm>
            <a:off x="9854656" y="3612952"/>
            <a:ext cx="2162121" cy="162123"/>
          </a:xfrm>
          <a:prstGeom prst="rect">
            <a:avLst/>
          </a:prstGeom>
          <a:noFill/>
          <a:ln/>
        </p:spPr>
        <p:txBody>
          <a:bodyPr wrap="none" lIns="0" tIns="0" rIns="0" bIns="0" rtlCol="0" anchor="t"/>
          <a:lstStyle/>
          <a:p>
            <a:pPr marL="0" indent="0" algn="l">
              <a:lnSpc>
                <a:spcPct val="110000"/>
              </a:lnSpc>
              <a:buNone/>
            </a:pPr>
            <a:endParaRPr lang="en-US" sz="1700" dirty="0">
              <a:latin typeface="Times New Roman" panose="02020603050405020304" pitchFamily="18" charset="0"/>
              <a:cs typeface="Times New Roman" panose="02020603050405020304" pitchFamily="18" charset="0"/>
            </a:endParaRPr>
          </a:p>
        </p:txBody>
      </p:sp>
      <p:sp>
        <p:nvSpPr>
          <p:cNvPr id="17" name="Text 14"/>
          <p:cNvSpPr/>
          <p:nvPr/>
        </p:nvSpPr>
        <p:spPr>
          <a:xfrm>
            <a:off x="9854656" y="3896122"/>
            <a:ext cx="2162121" cy="162123"/>
          </a:xfrm>
          <a:prstGeom prst="rect">
            <a:avLst/>
          </a:prstGeom>
          <a:noFill/>
          <a:ln/>
        </p:spPr>
        <p:txBody>
          <a:bodyPr wrap="none" lIns="0" tIns="0" rIns="0" bIns="0" rtlCol="0" anchor="t"/>
          <a:lstStyle/>
          <a:p>
            <a:pPr marL="0" indent="0" algn="l">
              <a:lnSpc>
                <a:spcPct val="110000"/>
              </a:lnSpc>
              <a:buNone/>
            </a:pPr>
            <a:endParaRPr lang="en-US" sz="1700" dirty="0">
              <a:latin typeface="Times New Roman" panose="02020603050405020304" pitchFamily="18" charset="0"/>
              <a:cs typeface="Times New Roman" panose="02020603050405020304" pitchFamily="18" charset="0"/>
            </a:endParaRPr>
          </a:p>
        </p:txBody>
      </p:sp>
      <p:sp>
        <p:nvSpPr>
          <p:cNvPr id="19" name="Text 16"/>
          <p:cNvSpPr/>
          <p:nvPr/>
        </p:nvSpPr>
        <p:spPr>
          <a:xfrm>
            <a:off x="9854656" y="4179292"/>
            <a:ext cx="2162121" cy="162123"/>
          </a:xfrm>
          <a:prstGeom prst="rect">
            <a:avLst/>
          </a:prstGeom>
          <a:noFill/>
          <a:ln/>
        </p:spPr>
        <p:txBody>
          <a:bodyPr wrap="none" lIns="0" tIns="0" rIns="0" bIns="0" rtlCol="0" anchor="t"/>
          <a:lstStyle/>
          <a:p>
            <a:pPr marL="0" indent="0" algn="l">
              <a:lnSpc>
                <a:spcPct val="110000"/>
              </a:lnSpc>
              <a:buNone/>
            </a:pPr>
            <a:endParaRPr lang="en-US" sz="1700" dirty="0">
              <a:latin typeface="Times New Roman" panose="02020603050405020304" pitchFamily="18" charset="0"/>
              <a:cs typeface="Times New Roman" panose="02020603050405020304" pitchFamily="18" charset="0"/>
            </a:endParaRPr>
          </a:p>
        </p:txBody>
      </p:sp>
      <p:sp>
        <p:nvSpPr>
          <p:cNvPr id="21" name="Text 18"/>
          <p:cNvSpPr/>
          <p:nvPr/>
        </p:nvSpPr>
        <p:spPr>
          <a:xfrm>
            <a:off x="9854656" y="4462463"/>
            <a:ext cx="2162121" cy="162123"/>
          </a:xfrm>
          <a:prstGeom prst="rect">
            <a:avLst/>
          </a:prstGeom>
          <a:noFill/>
          <a:ln/>
        </p:spPr>
        <p:txBody>
          <a:bodyPr wrap="none" lIns="0" tIns="0" rIns="0" bIns="0" rtlCol="0" anchor="t"/>
          <a:lstStyle/>
          <a:p>
            <a:pPr marL="0" indent="0" algn="l">
              <a:lnSpc>
                <a:spcPct val="110000"/>
              </a:lnSpc>
              <a:buNone/>
            </a:pPr>
            <a:endParaRPr lang="en-US" sz="1700" dirty="0">
              <a:latin typeface="Times New Roman" panose="02020603050405020304" pitchFamily="18" charset="0"/>
              <a:cs typeface="Times New Roman" panose="02020603050405020304" pitchFamily="18" charset="0"/>
            </a:endParaRPr>
          </a:p>
        </p:txBody>
      </p:sp>
      <p:sp>
        <p:nvSpPr>
          <p:cNvPr id="27" name="Text 24"/>
          <p:cNvSpPr/>
          <p:nvPr/>
        </p:nvSpPr>
        <p:spPr>
          <a:xfrm>
            <a:off x="9374250" y="4996474"/>
            <a:ext cx="2162121" cy="162123"/>
          </a:xfrm>
          <a:prstGeom prst="rect">
            <a:avLst/>
          </a:prstGeom>
          <a:noFill/>
          <a:ln/>
        </p:spPr>
        <p:txBody>
          <a:bodyPr wrap="none" lIns="0" tIns="0" rIns="0" bIns="0" rtlCol="0" anchor="t"/>
          <a:lstStyle/>
          <a:p>
            <a:pPr marL="0" indent="0" algn="l">
              <a:lnSpc>
                <a:spcPct val="110000"/>
              </a:lnSpc>
              <a:buNone/>
            </a:pPr>
            <a:endParaRPr lang="en-US" sz="1700" dirty="0">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FDCA9762-39CF-8E85-E414-2AC4889A5DB8}"/>
              </a:ext>
            </a:extLst>
          </p:cNvPr>
          <p:cNvPicPr>
            <a:picLocks noChangeAspect="1"/>
          </p:cNvPicPr>
          <p:nvPr/>
        </p:nvPicPr>
        <p:blipFill>
          <a:blip r:embed="rId3"/>
          <a:stretch>
            <a:fillRect/>
          </a:stretch>
        </p:blipFill>
        <p:spPr>
          <a:xfrm>
            <a:off x="11033620" y="6551370"/>
            <a:ext cx="1158380" cy="306630"/>
          </a:xfrm>
          <a:prstGeom prst="rect">
            <a:avLst/>
          </a:prstGeom>
        </p:spPr>
      </p:pic>
      <p:sp>
        <p:nvSpPr>
          <p:cNvPr id="33" name="TextBox 32">
            <a:extLst>
              <a:ext uri="{FF2B5EF4-FFF2-40B4-BE49-F238E27FC236}">
                <a16:creationId xmlns:a16="http://schemas.microsoft.com/office/drawing/2014/main" id="{C07F818A-E8C3-47C4-45D5-9CFA94DEB3AC}"/>
              </a:ext>
            </a:extLst>
          </p:cNvPr>
          <p:cNvSpPr txBox="1"/>
          <p:nvPr/>
        </p:nvSpPr>
        <p:spPr>
          <a:xfrm>
            <a:off x="7334451" y="2254774"/>
            <a:ext cx="4682326" cy="2800767"/>
          </a:xfrm>
          <a:prstGeom prst="rect">
            <a:avLst/>
          </a:prstGeom>
          <a:noFill/>
        </p:spPr>
        <p:txBody>
          <a:bodyPr wrap="square" rtlCol="0">
            <a:spAutoFit/>
          </a:bodyPr>
          <a:lstStyle/>
          <a:p>
            <a:r>
              <a:rPr lang="vi-VN" sz="2200" dirty="0">
                <a:latin typeface="+mj-lt"/>
              </a:rPr>
              <a:t>1. datetime: thời gian ghi nhận dữ liệu.</a:t>
            </a:r>
          </a:p>
          <a:p>
            <a:r>
              <a:rPr lang="vi-VN" sz="2200" dirty="0">
                <a:latin typeface="+mj-lt"/>
              </a:rPr>
              <a:t>2. pm25: nồng độ bụi mịn PM2.5.</a:t>
            </a:r>
          </a:p>
          <a:p>
            <a:r>
              <a:rPr lang="vi-VN" sz="2200" dirty="0">
                <a:latin typeface="+mj-lt"/>
              </a:rPr>
              <a:t>3. temperature: nhiệt độ.</a:t>
            </a:r>
          </a:p>
          <a:p>
            <a:r>
              <a:rPr lang="vi-VN" sz="2200" dirty="0">
                <a:latin typeface="+mj-lt"/>
              </a:rPr>
              <a:t>4. humidity: độ ẩm.</a:t>
            </a:r>
          </a:p>
          <a:p>
            <a:r>
              <a:rPr lang="vi-VN" sz="2200" dirty="0">
                <a:latin typeface="+mj-lt"/>
              </a:rPr>
              <a:t>5. wind_speed: tốc độ gió.</a:t>
            </a:r>
          </a:p>
          <a:p>
            <a:r>
              <a:rPr lang="vi-VN" sz="2200" dirty="0">
                <a:latin typeface="+mj-lt"/>
              </a:rPr>
              <a:t>6. rain / precipitation: lượng mưa.</a:t>
            </a:r>
          </a:p>
          <a:p>
            <a:r>
              <a:rPr lang="vi-VN" sz="2200" dirty="0">
                <a:latin typeface="+mj-lt"/>
              </a:rPr>
              <a:t>7. is_raining: trạng thái có mưa.</a:t>
            </a:r>
          </a:p>
          <a:p>
            <a:r>
              <a:rPr lang="vi-VN" sz="2200" dirty="0">
                <a:latin typeface="+mj-lt"/>
              </a:rPr>
              <a:t>8. cloud_cover: độ che phủ mây.</a:t>
            </a:r>
            <a:endParaRPr lang="en-US" sz="2200" dirty="0">
              <a:latin typeface="+mj-lt"/>
            </a:endParaRPr>
          </a:p>
        </p:txBody>
      </p:sp>
      <p:pic>
        <p:nvPicPr>
          <p:cNvPr id="37" name="Picture 36">
            <a:extLst>
              <a:ext uri="{FF2B5EF4-FFF2-40B4-BE49-F238E27FC236}">
                <a16:creationId xmlns:a16="http://schemas.microsoft.com/office/drawing/2014/main" id="{E3CB2922-0A36-934E-A1FC-4E3B3E2A31FF}"/>
              </a:ext>
            </a:extLst>
          </p:cNvPr>
          <p:cNvPicPr>
            <a:picLocks noChangeAspect="1"/>
          </p:cNvPicPr>
          <p:nvPr/>
        </p:nvPicPr>
        <p:blipFill>
          <a:blip r:embed="rId4"/>
          <a:stretch>
            <a:fillRect/>
          </a:stretch>
        </p:blipFill>
        <p:spPr>
          <a:xfrm>
            <a:off x="375297" y="2946048"/>
            <a:ext cx="6598150" cy="3441177"/>
          </a:xfrm>
          <a:prstGeom prst="rect">
            <a:avLst/>
          </a:prstGeom>
          <a:ln>
            <a:noFill/>
          </a:ln>
          <a:effectLst>
            <a:softEdge rad="11250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574" y="824309"/>
            <a:ext cx="6997525" cy="590649"/>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Alice" pitchFamily="34" charset="-122"/>
                <a:cs typeface="Times New Roman" panose="02020603050405020304" pitchFamily="18" charset="0"/>
              </a:rPr>
              <a:t>CÔNG CỤ VÀ THƯ VIỆN SỬ DỤNG</a:t>
            </a:r>
            <a:endParaRPr lang="en-US" sz="2000" b="1" dirty="0">
              <a:latin typeface="Times New Roman" panose="02020603050405020304" pitchFamily="18" charset="0"/>
              <a:cs typeface="Times New Roman" panose="02020603050405020304" pitchFamily="18" charset="0"/>
            </a:endParaRPr>
          </a:p>
        </p:txBody>
      </p:sp>
      <p:sp>
        <p:nvSpPr>
          <p:cNvPr id="3" name="Text 1"/>
          <p:cNvSpPr/>
          <p:nvPr/>
        </p:nvSpPr>
        <p:spPr>
          <a:xfrm>
            <a:off x="661574" y="1887438"/>
            <a:ext cx="2972222" cy="295275"/>
          </a:xfrm>
          <a:prstGeom prst="rect">
            <a:avLst/>
          </a:prstGeom>
          <a:noFill/>
          <a:ln/>
        </p:spPr>
        <p:txBody>
          <a:bodyPr wrap="none" lIns="0" tIns="0" rIns="0" bIns="0" rtlCol="0" anchor="t"/>
          <a:lstStyle/>
          <a:p>
            <a:pPr marL="0" indent="0" algn="l">
              <a:lnSpc>
                <a:spcPct val="104000"/>
              </a:lnSpc>
              <a:buNone/>
            </a:pP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Công cụ</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661574" y="2371725"/>
            <a:ext cx="5203695" cy="670917"/>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Python</a:t>
            </a:r>
            <a:endParaRPr lang="en-US" sz="20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Jupyter Notebook</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661574" y="3231654"/>
            <a:ext cx="2972222" cy="295275"/>
          </a:xfrm>
          <a:prstGeom prst="rect">
            <a:avLst/>
          </a:prstGeom>
          <a:noFill/>
          <a:ln/>
        </p:spPr>
        <p:txBody>
          <a:bodyPr wrap="none" lIns="0" tIns="0" rIns="0" bIns="0" rtlCol="0" anchor="t"/>
          <a:lstStyle/>
          <a:p>
            <a:pPr marL="0" indent="0" algn="l">
              <a:lnSpc>
                <a:spcPct val="104000"/>
              </a:lnSpc>
              <a:buNone/>
            </a:pP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Kết quả đầu ra</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661574" y="3715941"/>
            <a:ext cx="5203695" cy="1039416"/>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Bảng kết quả dạng CSV</a:t>
            </a:r>
            <a:endParaRPr lang="en-US" sz="20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Biểu đồ minh họa</a:t>
            </a:r>
            <a:endParaRPr lang="en-US" sz="20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Nhận xét và kết luận cho từng câu hỏi phân tích</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6332776" y="1887438"/>
            <a:ext cx="2972222" cy="295275"/>
          </a:xfrm>
          <a:prstGeom prst="rect">
            <a:avLst/>
          </a:prstGeom>
          <a:noFill/>
          <a:ln/>
        </p:spPr>
        <p:txBody>
          <a:bodyPr wrap="none" lIns="0" tIns="0" rIns="0" bIns="0" rtlCol="0" anchor="t"/>
          <a:lstStyle/>
          <a:p>
            <a:pPr marL="0" indent="0" algn="l">
              <a:lnSpc>
                <a:spcPct val="104000"/>
              </a:lnSpc>
              <a:buNone/>
            </a:pP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Thư viện sử dụng</a:t>
            </a:r>
            <a:endParaRPr lang="en-US" sz="2000" dirty="0">
              <a:latin typeface="Times New Roman" panose="02020603050405020304" pitchFamily="18" charset="0"/>
              <a:cs typeface="Times New Roman" panose="02020603050405020304" pitchFamily="18" charset="0"/>
            </a:endParaRPr>
          </a:p>
        </p:txBody>
      </p:sp>
      <p:sp>
        <p:nvSpPr>
          <p:cNvPr id="8" name="Shape 6"/>
          <p:cNvSpPr/>
          <p:nvPr/>
        </p:nvSpPr>
        <p:spPr>
          <a:xfrm>
            <a:off x="6332776" y="2395339"/>
            <a:ext cx="2507294" cy="1467148"/>
          </a:xfrm>
          <a:prstGeom prst="roundRect">
            <a:avLst>
              <a:gd name="adj" fmla="val 1933"/>
            </a:avLst>
          </a:prstGeom>
          <a:solidFill>
            <a:srgbClr val="F0EDE6"/>
          </a:solidFill>
          <a:ln/>
        </p:spPr>
      </p:sp>
      <p:sp>
        <p:nvSpPr>
          <p:cNvPr id="9" name="Text 7"/>
          <p:cNvSpPr/>
          <p:nvPr/>
        </p:nvSpPr>
        <p:spPr>
          <a:xfrm>
            <a:off x="6521783" y="2584351"/>
            <a:ext cx="2129280" cy="295275"/>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Pandas</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6521783" y="3068638"/>
            <a:ext cx="2129280" cy="604838"/>
          </a:xfrm>
          <a:prstGeom prst="rect">
            <a:avLst/>
          </a:prstGeom>
          <a:noFill/>
          <a:ln/>
        </p:spPr>
        <p:txBody>
          <a:bodyPr wrap="square" lIns="0" tIns="0" rIns="0" bIns="0" rtlCol="0" anchor="t">
            <a:noAutofit/>
          </a:bodyPr>
          <a:lstStyle/>
          <a:p>
            <a:pPr marL="0" indent="0" algn="l">
              <a:lnSpc>
                <a:spcPct val="133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Đọc, xử lý và nhóm dữ liệu</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9029077" y="2395339"/>
            <a:ext cx="2507394" cy="1467148"/>
          </a:xfrm>
          <a:prstGeom prst="roundRect">
            <a:avLst>
              <a:gd name="adj" fmla="val 1933"/>
            </a:avLst>
          </a:prstGeom>
          <a:solidFill>
            <a:srgbClr val="F0EDE6"/>
          </a:solidFill>
          <a:ln/>
        </p:spPr>
      </p:sp>
      <p:sp>
        <p:nvSpPr>
          <p:cNvPr id="12" name="Text 10"/>
          <p:cNvSpPr/>
          <p:nvPr/>
        </p:nvSpPr>
        <p:spPr>
          <a:xfrm>
            <a:off x="9218084" y="2584351"/>
            <a:ext cx="2129380" cy="295275"/>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NumPy</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9218084" y="3068638"/>
            <a:ext cx="2129380" cy="604838"/>
          </a:xfrm>
          <a:prstGeom prst="rect">
            <a:avLst/>
          </a:prstGeom>
          <a:noFill/>
          <a:ln/>
        </p:spPr>
        <p:txBody>
          <a:bodyPr wrap="square" lIns="0" tIns="0" rIns="0" bIns="0" rtlCol="0" anchor="t">
            <a:noAutofit/>
          </a:bodyPr>
          <a:lstStyle/>
          <a:p>
            <a:pPr marL="0" indent="0" algn="l">
              <a:lnSpc>
                <a:spcPct val="133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Hỗ trợ tính toán dữ liệu số</a:t>
            </a:r>
            <a:endParaRPr lang="en-US" sz="2000" dirty="0">
              <a:latin typeface="Times New Roman" panose="02020603050405020304" pitchFamily="18" charset="0"/>
              <a:cs typeface="Times New Roman" panose="02020603050405020304" pitchFamily="18" charset="0"/>
            </a:endParaRPr>
          </a:p>
        </p:txBody>
      </p:sp>
      <p:sp>
        <p:nvSpPr>
          <p:cNvPr id="14" name="Shape 12"/>
          <p:cNvSpPr/>
          <p:nvPr/>
        </p:nvSpPr>
        <p:spPr>
          <a:xfrm>
            <a:off x="6332776" y="4051498"/>
            <a:ext cx="2507294" cy="1769566"/>
          </a:xfrm>
          <a:prstGeom prst="roundRect">
            <a:avLst>
              <a:gd name="adj" fmla="val 1602"/>
            </a:avLst>
          </a:prstGeom>
          <a:solidFill>
            <a:srgbClr val="F0EDE6"/>
          </a:solidFill>
          <a:ln/>
        </p:spPr>
      </p:sp>
      <p:sp>
        <p:nvSpPr>
          <p:cNvPr id="15" name="Text 13"/>
          <p:cNvSpPr/>
          <p:nvPr/>
        </p:nvSpPr>
        <p:spPr>
          <a:xfrm>
            <a:off x="6521783" y="4240510"/>
            <a:ext cx="2129280" cy="295275"/>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Matplotlib</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6521783" y="4724797"/>
            <a:ext cx="2129280" cy="604838"/>
          </a:xfrm>
          <a:prstGeom prst="rect">
            <a:avLst/>
          </a:prstGeom>
          <a:noFill/>
          <a:ln/>
        </p:spPr>
        <p:txBody>
          <a:bodyPr wrap="square" lIns="0" tIns="0" rIns="0" bIns="0" rtlCol="0" anchor="t">
            <a:noAutofit/>
          </a:bodyPr>
          <a:lstStyle/>
          <a:p>
            <a:pPr marL="0" indent="0" algn="l">
              <a:lnSpc>
                <a:spcPct val="133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Trực quan hóa dữ liệu bằng biểu đồ</a:t>
            </a:r>
            <a:endParaRPr lang="en-US" sz="2000" dirty="0">
              <a:latin typeface="Times New Roman" panose="02020603050405020304" pitchFamily="18" charset="0"/>
              <a:cs typeface="Times New Roman" panose="02020603050405020304" pitchFamily="18" charset="0"/>
            </a:endParaRPr>
          </a:p>
        </p:txBody>
      </p:sp>
      <p:sp>
        <p:nvSpPr>
          <p:cNvPr id="17" name="Shape 15"/>
          <p:cNvSpPr/>
          <p:nvPr/>
        </p:nvSpPr>
        <p:spPr>
          <a:xfrm>
            <a:off x="9029077" y="4051498"/>
            <a:ext cx="2507394" cy="1769566"/>
          </a:xfrm>
          <a:prstGeom prst="roundRect">
            <a:avLst>
              <a:gd name="adj" fmla="val 1602"/>
            </a:avLst>
          </a:prstGeom>
          <a:solidFill>
            <a:srgbClr val="F0EDE6"/>
          </a:solidFill>
          <a:ln/>
        </p:spPr>
      </p:sp>
      <p:sp>
        <p:nvSpPr>
          <p:cNvPr id="18" name="Text 16"/>
          <p:cNvSpPr/>
          <p:nvPr/>
        </p:nvSpPr>
        <p:spPr>
          <a:xfrm>
            <a:off x="9218084" y="4240510"/>
            <a:ext cx="2129380" cy="295275"/>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Scikit-learn</a:t>
            </a:r>
            <a:endParaRPr lang="en-US" sz="2000" dirty="0">
              <a:latin typeface="Times New Roman" panose="02020603050405020304" pitchFamily="18" charset="0"/>
              <a:cs typeface="Times New Roman" panose="02020603050405020304" pitchFamily="18" charset="0"/>
            </a:endParaRPr>
          </a:p>
        </p:txBody>
      </p:sp>
      <p:sp>
        <p:nvSpPr>
          <p:cNvPr id="19" name="Text 17"/>
          <p:cNvSpPr/>
          <p:nvPr/>
        </p:nvSpPr>
        <p:spPr>
          <a:xfrm>
            <a:off x="9218084" y="4592793"/>
            <a:ext cx="2129380" cy="1039260"/>
          </a:xfrm>
          <a:prstGeom prst="rect">
            <a:avLst/>
          </a:prstGeom>
          <a:noFill/>
          <a:ln/>
        </p:spPr>
        <p:txBody>
          <a:bodyPr wrap="square" lIns="0" tIns="0" rIns="0" bIns="0" rtlCol="0" anchor="t">
            <a:noAutofit/>
          </a:bodyPr>
          <a:lstStyle/>
          <a:p>
            <a:pPr marL="0" indent="0" algn="l">
              <a:lnSpc>
                <a:spcPct val="133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Hỗ trợ phân tích, dự đoán hoặc phân nhóm dữ liệu</a:t>
            </a:r>
            <a:endParaRPr lang="en-US" sz="2000"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8E159345-F89F-105C-4B85-E5799F7431C4}"/>
              </a:ext>
            </a:extLst>
          </p:cNvPr>
          <p:cNvPicPr>
            <a:picLocks noChangeAspect="1"/>
          </p:cNvPicPr>
          <p:nvPr/>
        </p:nvPicPr>
        <p:blipFill>
          <a:blip r:embed="rId3"/>
          <a:stretch>
            <a:fillRect/>
          </a:stretch>
        </p:blipFill>
        <p:spPr>
          <a:xfrm>
            <a:off x="11033620" y="6551370"/>
            <a:ext cx="1158380" cy="3066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574" y="917773"/>
            <a:ext cx="4626157" cy="502047"/>
          </a:xfrm>
          <a:prstGeom prst="rect">
            <a:avLst/>
          </a:prstGeom>
          <a:noFill/>
          <a:ln/>
        </p:spPr>
        <p:txBody>
          <a:bodyPr wrap="none" lIns="0" tIns="0" rIns="0" bIns="0" rtlCol="0" anchor="t"/>
          <a:lstStyle/>
          <a:p>
            <a:pPr marL="0" indent="0" algn="l">
              <a:lnSpc>
                <a:spcPct val="104000"/>
              </a:lnSpc>
              <a:buNone/>
            </a:pPr>
            <a:r>
              <a:rPr lang="en-US" dirty="0">
                <a:solidFill>
                  <a:srgbClr val="233E32"/>
                </a:solidFill>
                <a:latin typeface="Times New Roman" panose="02020603050405020304" pitchFamily="18" charset="0"/>
                <a:ea typeface="Alice" pitchFamily="34" charset="-122"/>
                <a:cs typeface="Times New Roman" panose="02020603050405020304" pitchFamily="18" charset="0"/>
              </a:rPr>
              <a:t>Quy Trình Thực Hiện</a:t>
            </a:r>
            <a:endParaRPr lang="en-US" dirty="0">
              <a:latin typeface="Times New Roman" panose="02020603050405020304" pitchFamily="18" charset="0"/>
              <a:cs typeface="Times New Roman" panose="02020603050405020304" pitchFamily="18" charset="0"/>
            </a:endParaRPr>
          </a:p>
        </p:txBody>
      </p:sp>
      <p:sp>
        <p:nvSpPr>
          <p:cNvPr id="3" name="Text 1"/>
          <p:cNvSpPr/>
          <p:nvPr/>
        </p:nvSpPr>
        <p:spPr>
          <a:xfrm>
            <a:off x="661574" y="1692870"/>
            <a:ext cx="11478132" cy="237728"/>
          </a:xfrm>
          <a:prstGeom prst="rect">
            <a:avLst/>
          </a:prstGeom>
          <a:noFill/>
          <a:ln/>
        </p:spPr>
        <p:txBody>
          <a:bodyPr wrap="none" lIns="0" tIns="0" rIns="0" bIns="0" rtlCol="0" anchor="t"/>
          <a:lstStyle/>
          <a:p>
            <a:pPr marL="0" indent="0" algn="l">
              <a:lnSpc>
                <a:spcPct val="123000"/>
              </a:lnSpc>
              <a:buNone/>
            </a:pPr>
            <a:r>
              <a:rPr lang="en-US" dirty="0">
                <a:solidFill>
                  <a:srgbClr val="2C2821"/>
                </a:solidFill>
                <a:latin typeface="Times New Roman" panose="02020603050405020304" pitchFamily="18" charset="0"/>
                <a:ea typeface="Lora" pitchFamily="34" charset="-122"/>
                <a:cs typeface="Times New Roman" panose="02020603050405020304" pitchFamily="18" charset="0"/>
              </a:rPr>
              <a:t>Quy trình phân tích dữ liệu gồm các bước:</a:t>
            </a:r>
            <a:endParaRPr lang="en-US"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661574" y="2084189"/>
            <a:ext cx="803255" cy="964009"/>
          </a:xfrm>
          <a:prstGeom prst="rect">
            <a:avLst/>
          </a:prstGeom>
        </p:spPr>
      </p:pic>
      <p:sp>
        <p:nvSpPr>
          <p:cNvPr id="5" name="Text 2"/>
          <p:cNvSpPr/>
          <p:nvPr/>
        </p:nvSpPr>
        <p:spPr>
          <a:xfrm>
            <a:off x="1601351" y="2244824"/>
            <a:ext cx="3011015" cy="251023"/>
          </a:xfrm>
          <a:prstGeom prst="rect">
            <a:avLst/>
          </a:prstGeom>
          <a:noFill/>
          <a:ln/>
        </p:spPr>
        <p:txBody>
          <a:bodyPr wrap="none" lIns="0" tIns="0" rIns="0" bIns="0" rtlCol="0" anchor="t"/>
          <a:lstStyle/>
          <a:p>
            <a:pPr marL="0" indent="0" algn="l">
              <a:lnSpc>
                <a:spcPct val="104000"/>
              </a:lnSpc>
              <a:buNone/>
            </a:pPr>
            <a:r>
              <a:rPr lang="en-US" dirty="0">
                <a:solidFill>
                  <a:srgbClr val="2C2821"/>
                </a:solidFill>
                <a:latin typeface="Times New Roman" panose="02020603050405020304" pitchFamily="18" charset="0"/>
                <a:ea typeface="Alice" pitchFamily="34" charset="-122"/>
                <a:cs typeface="Times New Roman" panose="02020603050405020304" pitchFamily="18" charset="0"/>
              </a:rPr>
              <a:t>Bước 1–2: Đọc và kiểm tra dữ liệu</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1601351" y="2577703"/>
            <a:ext cx="9928770" cy="237728"/>
          </a:xfrm>
          <a:prstGeom prst="rect">
            <a:avLst/>
          </a:prstGeom>
          <a:noFill/>
          <a:ln/>
        </p:spPr>
        <p:txBody>
          <a:bodyPr wrap="none" lIns="0" tIns="0" rIns="0" bIns="0" rtlCol="0" anchor="t"/>
          <a:lstStyle/>
          <a:p>
            <a:pPr marL="0" indent="0" algn="l">
              <a:lnSpc>
                <a:spcPct val="123000"/>
              </a:lnSpc>
              <a:buNone/>
            </a:pPr>
            <a:r>
              <a:rPr lang="en-US" dirty="0">
                <a:solidFill>
                  <a:srgbClr val="2C2821"/>
                </a:solidFill>
                <a:latin typeface="Times New Roman" panose="02020603050405020304" pitchFamily="18" charset="0"/>
                <a:ea typeface="Lora" pitchFamily="34" charset="-122"/>
                <a:cs typeface="Times New Roman" panose="02020603050405020304" pitchFamily="18" charset="0"/>
              </a:rPr>
              <a:t>Đọc dữ liệu từ file CSV, kiểm tra cấu trúc dữ liệu.</a:t>
            </a:r>
            <a:endParaRPr lang="en-US"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4"/>
          <a:stretch>
            <a:fillRect/>
          </a:stretch>
        </p:blipFill>
        <p:spPr>
          <a:xfrm>
            <a:off x="661574" y="3048198"/>
            <a:ext cx="803255" cy="964009"/>
          </a:xfrm>
          <a:prstGeom prst="rect">
            <a:avLst/>
          </a:prstGeom>
        </p:spPr>
      </p:pic>
      <p:sp>
        <p:nvSpPr>
          <p:cNvPr id="8" name="Text 4"/>
          <p:cNvSpPr/>
          <p:nvPr/>
        </p:nvSpPr>
        <p:spPr>
          <a:xfrm>
            <a:off x="1601351" y="3208834"/>
            <a:ext cx="3227208" cy="251023"/>
          </a:xfrm>
          <a:prstGeom prst="rect">
            <a:avLst/>
          </a:prstGeom>
          <a:noFill/>
          <a:ln/>
        </p:spPr>
        <p:txBody>
          <a:bodyPr wrap="none" lIns="0" tIns="0" rIns="0" bIns="0" rtlCol="0" anchor="t"/>
          <a:lstStyle/>
          <a:p>
            <a:pPr marL="0" indent="0" algn="l">
              <a:lnSpc>
                <a:spcPct val="104000"/>
              </a:lnSpc>
              <a:buNone/>
            </a:pPr>
            <a:r>
              <a:rPr lang="en-US" dirty="0">
                <a:solidFill>
                  <a:srgbClr val="2C2821"/>
                </a:solidFill>
                <a:latin typeface="Times New Roman" panose="02020603050405020304" pitchFamily="18" charset="0"/>
                <a:ea typeface="Alice" pitchFamily="34" charset="-122"/>
                <a:cs typeface="Times New Roman" panose="02020603050405020304" pitchFamily="18" charset="0"/>
              </a:rPr>
              <a:t>Bước 3–5: Chuẩn hóa và tạo cột mới</a:t>
            </a:r>
            <a:endParaRPr lang="en-US" dirty="0">
              <a:latin typeface="Times New Roman" panose="02020603050405020304" pitchFamily="18" charset="0"/>
              <a:cs typeface="Times New Roman" panose="02020603050405020304" pitchFamily="18" charset="0"/>
            </a:endParaRPr>
          </a:p>
        </p:txBody>
      </p:sp>
      <p:sp>
        <p:nvSpPr>
          <p:cNvPr id="9" name="Text 5"/>
          <p:cNvSpPr/>
          <p:nvPr/>
        </p:nvSpPr>
        <p:spPr>
          <a:xfrm>
            <a:off x="1601351" y="3541713"/>
            <a:ext cx="9928770" cy="237728"/>
          </a:xfrm>
          <a:prstGeom prst="rect">
            <a:avLst/>
          </a:prstGeom>
          <a:noFill/>
          <a:ln/>
        </p:spPr>
        <p:txBody>
          <a:bodyPr wrap="none" lIns="0" tIns="0" rIns="0" bIns="0" rtlCol="0" anchor="t"/>
          <a:lstStyle/>
          <a:p>
            <a:pPr marL="0" indent="0" algn="l">
              <a:lnSpc>
                <a:spcPct val="123000"/>
              </a:lnSpc>
              <a:buNone/>
            </a:pPr>
            <a:r>
              <a:rPr lang="en-US" dirty="0">
                <a:solidFill>
                  <a:srgbClr val="2C2821"/>
                </a:solidFill>
                <a:latin typeface="Times New Roman" panose="02020603050405020304" pitchFamily="18" charset="0"/>
                <a:ea typeface="Lora" pitchFamily="34" charset="-122"/>
                <a:cs typeface="Times New Roman" panose="02020603050405020304" pitchFamily="18" charset="0"/>
              </a:rPr>
              <a:t>Chuẩn hóa cột thời gian, chuyển đổi các cột số về đúng kiểu dữ liệu, tạo thêm các cột ngày, giờ, tháng, năm và mùa.</a:t>
            </a:r>
            <a:endParaRPr lang="en-US"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5"/>
          <a:stretch>
            <a:fillRect/>
          </a:stretch>
        </p:blipFill>
        <p:spPr>
          <a:xfrm>
            <a:off x="661574" y="4012208"/>
            <a:ext cx="803255" cy="964009"/>
          </a:xfrm>
          <a:prstGeom prst="rect">
            <a:avLst/>
          </a:prstGeom>
        </p:spPr>
      </p:pic>
      <p:sp>
        <p:nvSpPr>
          <p:cNvPr id="11" name="Text 6"/>
          <p:cNvSpPr/>
          <p:nvPr/>
        </p:nvSpPr>
        <p:spPr>
          <a:xfrm>
            <a:off x="1601351" y="4172843"/>
            <a:ext cx="2913486" cy="251023"/>
          </a:xfrm>
          <a:prstGeom prst="rect">
            <a:avLst/>
          </a:prstGeom>
          <a:noFill/>
          <a:ln/>
        </p:spPr>
        <p:txBody>
          <a:bodyPr wrap="none" lIns="0" tIns="0" rIns="0" bIns="0" rtlCol="0" anchor="t"/>
          <a:lstStyle/>
          <a:p>
            <a:pPr marL="0" indent="0" algn="l">
              <a:lnSpc>
                <a:spcPct val="104000"/>
              </a:lnSpc>
              <a:buNone/>
            </a:pPr>
            <a:r>
              <a:rPr lang="en-US" dirty="0">
                <a:solidFill>
                  <a:srgbClr val="2C2821"/>
                </a:solidFill>
                <a:latin typeface="Times New Roman" panose="02020603050405020304" pitchFamily="18" charset="0"/>
                <a:ea typeface="Alice" pitchFamily="34" charset="-122"/>
                <a:cs typeface="Times New Roman" panose="02020603050405020304" pitchFamily="18" charset="0"/>
              </a:rPr>
              <a:t>Bước 6–7: Tính toán và phân tích</a:t>
            </a:r>
            <a:endParaRPr lang="en-US" dirty="0">
              <a:latin typeface="Times New Roman" panose="02020603050405020304" pitchFamily="18" charset="0"/>
              <a:cs typeface="Times New Roman" panose="02020603050405020304" pitchFamily="18" charset="0"/>
            </a:endParaRPr>
          </a:p>
        </p:txBody>
      </p:sp>
      <p:sp>
        <p:nvSpPr>
          <p:cNvPr id="12" name="Text 7"/>
          <p:cNvSpPr/>
          <p:nvPr/>
        </p:nvSpPr>
        <p:spPr>
          <a:xfrm>
            <a:off x="1601351" y="4505722"/>
            <a:ext cx="9928770" cy="237728"/>
          </a:xfrm>
          <a:prstGeom prst="rect">
            <a:avLst/>
          </a:prstGeom>
          <a:noFill/>
          <a:ln/>
        </p:spPr>
        <p:txBody>
          <a:bodyPr wrap="none" lIns="0" tIns="0" rIns="0" bIns="0" rtlCol="0" anchor="t"/>
          <a:lstStyle/>
          <a:p>
            <a:pPr marL="0" indent="0" algn="l">
              <a:lnSpc>
                <a:spcPct val="123000"/>
              </a:lnSpc>
              <a:buNone/>
            </a:pP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Tính PM2.5 trung bình theo ngày, theo giờ, theo tháng và theo mùa, phân tích điều kiện thời tiết khi PM2.5 </a:t>
            </a:r>
            <a:r>
              <a:rPr lang="en-US" sz="1700" dirty="0" err="1">
                <a:solidFill>
                  <a:srgbClr val="2C2821"/>
                </a:solidFill>
                <a:latin typeface="Times New Roman" panose="02020603050405020304" pitchFamily="18" charset="0"/>
                <a:ea typeface="Lora" pitchFamily="34" charset="-122"/>
                <a:cs typeface="Times New Roman" panose="02020603050405020304" pitchFamily="18" charset="0"/>
              </a:rPr>
              <a:t>vượt</a:t>
            </a: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 ngưỡng.</a:t>
            </a:r>
            <a:endParaRPr lang="en-US" sz="1700" dirty="0">
              <a:latin typeface="Times New Roman" panose="02020603050405020304" pitchFamily="18" charset="0"/>
              <a:cs typeface="Times New Roman" panose="02020603050405020304" pitchFamily="18" charset="0"/>
            </a:endParaRPr>
          </a:p>
        </p:txBody>
      </p:sp>
      <p:pic>
        <p:nvPicPr>
          <p:cNvPr id="13" name="Image 3" descr="preencoded.png"/>
          <p:cNvPicPr>
            <a:picLocks noChangeAspect="1"/>
          </p:cNvPicPr>
          <p:nvPr/>
        </p:nvPicPr>
        <p:blipFill>
          <a:blip r:embed="rId6"/>
          <a:stretch>
            <a:fillRect/>
          </a:stretch>
        </p:blipFill>
        <p:spPr>
          <a:xfrm>
            <a:off x="661574" y="4976217"/>
            <a:ext cx="803255" cy="964009"/>
          </a:xfrm>
          <a:prstGeom prst="rect">
            <a:avLst/>
          </a:prstGeom>
        </p:spPr>
      </p:pic>
      <p:sp>
        <p:nvSpPr>
          <p:cNvPr id="14" name="Text 8"/>
          <p:cNvSpPr/>
          <p:nvPr/>
        </p:nvSpPr>
        <p:spPr>
          <a:xfrm>
            <a:off x="1601351" y="5136852"/>
            <a:ext cx="3363630" cy="251023"/>
          </a:xfrm>
          <a:prstGeom prst="rect">
            <a:avLst/>
          </a:prstGeom>
          <a:noFill/>
          <a:ln/>
        </p:spPr>
        <p:txBody>
          <a:bodyPr wrap="none" lIns="0" tIns="0" rIns="0" bIns="0" rtlCol="0" anchor="t"/>
          <a:lstStyle/>
          <a:p>
            <a:pPr marL="0" indent="0" algn="l">
              <a:lnSpc>
                <a:spcPct val="104000"/>
              </a:lnSpc>
              <a:buNone/>
            </a:pPr>
            <a:r>
              <a:rPr lang="en-US" dirty="0">
                <a:solidFill>
                  <a:srgbClr val="2C2821"/>
                </a:solidFill>
                <a:latin typeface="Times New Roman" panose="02020603050405020304" pitchFamily="18" charset="0"/>
                <a:ea typeface="Alice" pitchFamily="34" charset="-122"/>
                <a:cs typeface="Times New Roman" panose="02020603050405020304" pitchFamily="18" charset="0"/>
              </a:rPr>
              <a:t>Bước 8–10: Trực quan hóa và dự đoán</a:t>
            </a:r>
            <a:endParaRPr lang="en-US" dirty="0">
              <a:latin typeface="Times New Roman" panose="02020603050405020304" pitchFamily="18" charset="0"/>
              <a:cs typeface="Times New Roman" panose="02020603050405020304" pitchFamily="18" charset="0"/>
            </a:endParaRPr>
          </a:p>
        </p:txBody>
      </p:sp>
      <p:sp>
        <p:nvSpPr>
          <p:cNvPr id="15" name="Text 9"/>
          <p:cNvSpPr/>
          <p:nvPr/>
        </p:nvSpPr>
        <p:spPr>
          <a:xfrm>
            <a:off x="1464829" y="5469730"/>
            <a:ext cx="10065292" cy="251023"/>
          </a:xfrm>
          <a:prstGeom prst="rect">
            <a:avLst/>
          </a:prstGeom>
          <a:noFill/>
          <a:ln/>
        </p:spPr>
        <p:txBody>
          <a:bodyPr wrap="none" lIns="0" tIns="0" rIns="0" bIns="0" rtlCol="0" anchor="t"/>
          <a:lstStyle/>
          <a:p>
            <a:pPr marL="0" indent="0" algn="l">
              <a:lnSpc>
                <a:spcPct val="123000"/>
              </a:lnSpc>
              <a:buNone/>
            </a:pPr>
            <a:r>
              <a:rPr lang="en-US" sz="1650" dirty="0">
                <a:solidFill>
                  <a:srgbClr val="2C2821"/>
                </a:solidFill>
                <a:latin typeface="Times New Roman" panose="02020603050405020304" pitchFamily="18" charset="0"/>
                <a:ea typeface="Lora" pitchFamily="34" charset="-122"/>
                <a:cs typeface="Times New Roman" panose="02020603050405020304" pitchFamily="18" charset="0"/>
              </a:rPr>
              <a:t>Trực quan hóa kết quả bằng biểu đồ, dự đoán PM2.5 cho 06 tháng cuối năm 2026, phân nhóm PM2.5 </a:t>
            </a:r>
            <a:r>
              <a:rPr lang="en-US" sz="1650" dirty="0" err="1">
                <a:solidFill>
                  <a:srgbClr val="2C2821"/>
                </a:solidFill>
                <a:latin typeface="Times New Roman" panose="02020603050405020304" pitchFamily="18" charset="0"/>
                <a:ea typeface="Lora" pitchFamily="34" charset="-122"/>
                <a:cs typeface="Times New Roman" panose="02020603050405020304" pitchFamily="18" charset="0"/>
              </a:rPr>
              <a:t>thành</a:t>
            </a:r>
            <a:r>
              <a:rPr lang="en-US" sz="1650" dirty="0">
                <a:solidFill>
                  <a:srgbClr val="2C2821"/>
                </a:solidFill>
                <a:latin typeface="Times New Roman" panose="02020603050405020304" pitchFamily="18" charset="0"/>
                <a:ea typeface="Lora" pitchFamily="34" charset="-122"/>
                <a:cs typeface="Times New Roman" panose="02020603050405020304" pitchFamily="18" charset="0"/>
              </a:rPr>
              <a:t> 03 mức ô nhiễm.</a:t>
            </a:r>
            <a:endParaRPr lang="en-US" sz="165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7687238D-5EF1-5AED-9537-B7A15D66F051}"/>
              </a:ext>
            </a:extLst>
          </p:cNvPr>
          <p:cNvPicPr>
            <a:picLocks noChangeAspect="1"/>
          </p:cNvPicPr>
          <p:nvPr/>
        </p:nvPicPr>
        <p:blipFill>
          <a:blip r:embed="rId7"/>
          <a:stretch>
            <a:fillRect/>
          </a:stretch>
        </p:blipFill>
        <p:spPr>
          <a:xfrm>
            <a:off x="11033620" y="6551370"/>
            <a:ext cx="1158380" cy="3066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595595" y="556022"/>
            <a:ext cx="10493735" cy="306241"/>
          </a:xfrm>
          <a:prstGeom prst="rect">
            <a:avLst/>
          </a:prstGeom>
          <a:noFill/>
          <a:ln/>
        </p:spPr>
        <p:txBody>
          <a:bodyPr wrap="none" lIns="0" tIns="0" rIns="0" bIns="0" rtlCol="0" anchor="t"/>
          <a:lstStyle/>
          <a:p>
            <a:pPr marL="0" indent="0" algn="r">
              <a:lnSpc>
                <a:spcPct val="104000"/>
              </a:lnSpc>
              <a:buNone/>
            </a:pPr>
            <a:r>
              <a:rPr lang="en-US" sz="2000" b="1" dirty="0">
                <a:latin typeface="Alice" pitchFamily="34" charset="0"/>
                <a:ea typeface="Alice" pitchFamily="34" charset="-122"/>
                <a:cs typeface="Times New Roman" panose="02020603050405020304" pitchFamily="18" charset="0"/>
              </a:rPr>
              <a:t>KẾT QUẢ CÂU HỎI 1: SỐ NGÀY PM2.5 VƯỢT NGƯỠNG</a:t>
            </a:r>
            <a:endParaRPr lang="en-US" sz="2000" b="1" dirty="0"/>
          </a:p>
        </p:txBody>
      </p:sp>
      <p:sp>
        <p:nvSpPr>
          <p:cNvPr id="4" name="Text 1"/>
          <p:cNvSpPr/>
          <p:nvPr/>
        </p:nvSpPr>
        <p:spPr>
          <a:xfrm>
            <a:off x="373188" y="494408"/>
            <a:ext cx="1881339" cy="158948"/>
          </a:xfrm>
          <a:prstGeom prst="rect">
            <a:avLst/>
          </a:prstGeom>
          <a:noFill/>
          <a:ln/>
        </p:spPr>
        <p:txBody>
          <a:bodyPr wrap="none" lIns="0" tIns="0" rIns="0" bIns="0" rtlCol="0" anchor="t"/>
          <a:lstStyle/>
          <a:p>
            <a:pPr marL="0" indent="0" algn="l">
              <a:lnSpc>
                <a:spcPct val="104000"/>
              </a:lnSpc>
              <a:buNone/>
            </a:pPr>
            <a:r>
              <a:rPr lang="en-US" sz="2000" b="1" dirty="0">
                <a:solidFill>
                  <a:srgbClr val="233E32"/>
                </a:solidFill>
                <a:latin typeface="Times New Roman" panose="02020603050405020304" pitchFamily="18" charset="0"/>
                <a:ea typeface="Alice" pitchFamily="34" charset="-122"/>
                <a:cs typeface="Times New Roman" panose="02020603050405020304" pitchFamily="18" charset="0"/>
              </a:rPr>
              <a:t>CÁCH THỰC HIỆN</a:t>
            </a:r>
            <a:endParaRPr lang="en-US" sz="2000" b="1" dirty="0">
              <a:latin typeface="Times New Roman" panose="02020603050405020304" pitchFamily="18" charset="0"/>
              <a:cs typeface="Times New Roman" panose="02020603050405020304" pitchFamily="18" charset="0"/>
            </a:endParaRPr>
          </a:p>
        </p:txBody>
      </p:sp>
      <p:sp>
        <p:nvSpPr>
          <p:cNvPr id="5" name="Text 2"/>
          <p:cNvSpPr/>
          <p:nvPr/>
        </p:nvSpPr>
        <p:spPr>
          <a:xfrm>
            <a:off x="1078481" y="934971"/>
            <a:ext cx="9000503" cy="413643"/>
          </a:xfrm>
          <a:prstGeom prst="rect">
            <a:avLst/>
          </a:prstGeom>
          <a:noFill/>
          <a:ln/>
        </p:spPr>
        <p:txBody>
          <a:bodyPr wrap="square" lIns="0" tIns="0" rIns="0" bIns="0" rtlCol="0" anchor="t">
            <a:noAutofit/>
          </a:bodyPr>
          <a:lstStyle/>
          <a:p>
            <a:pPr marL="342900" indent="-342900" algn="l">
              <a:lnSpc>
                <a:spcPct val="10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Tính PM2.5 trung bình theo từng ngày</a:t>
            </a:r>
            <a:endParaRPr lang="en-US" sz="2000" dirty="0">
              <a:latin typeface="Times New Roman" panose="02020603050405020304" pitchFamily="18" charset="0"/>
              <a:cs typeface="Times New Roman" panose="02020603050405020304" pitchFamily="18" charset="0"/>
            </a:endParaRPr>
          </a:p>
          <a:p>
            <a:pPr marL="342900" indent="-342900" algn="l">
              <a:lnSpc>
                <a:spcPct val="10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So sánh PM2.5 trung bình ngày với ngưỡng 50 µg/m³</a:t>
            </a:r>
            <a:endParaRPr lang="en-US" sz="2000" dirty="0">
              <a:latin typeface="Times New Roman" panose="02020603050405020304" pitchFamily="18" charset="0"/>
              <a:cs typeface="Times New Roman" panose="02020603050405020304" pitchFamily="18" charset="0"/>
            </a:endParaRPr>
          </a:p>
          <a:p>
            <a:pPr marL="342900" indent="-342900" algn="l">
              <a:lnSpc>
                <a:spcPct val="10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Ngày có PM2.5 &gt; 50 µg/m³ được xem là ngày vượt ngưỡng</a:t>
            </a:r>
            <a:endParaRPr lang="en-US" sz="2000" dirty="0">
              <a:latin typeface="Times New Roman" panose="02020603050405020304" pitchFamily="18" charset="0"/>
              <a:cs typeface="Times New Roman" panose="02020603050405020304" pitchFamily="18" charset="0"/>
            </a:endParaRPr>
          </a:p>
        </p:txBody>
      </p:sp>
      <p:sp>
        <p:nvSpPr>
          <p:cNvPr id="6" name="Text 3"/>
          <p:cNvSpPr/>
          <p:nvPr/>
        </p:nvSpPr>
        <p:spPr>
          <a:xfrm>
            <a:off x="1595596" y="5078809"/>
            <a:ext cx="1881339" cy="158948"/>
          </a:xfrm>
          <a:prstGeom prst="rect">
            <a:avLst/>
          </a:prstGeom>
          <a:noFill/>
          <a:ln/>
        </p:spPr>
        <p:txBody>
          <a:bodyPr wrap="none" lIns="0" tIns="0" rIns="0" bIns="0" rtlCol="0" anchor="t"/>
          <a:lstStyle/>
          <a:p>
            <a:pPr marL="0" indent="0" algn="l">
              <a:lnSpc>
                <a:spcPct val="104000"/>
              </a:lnSpc>
              <a:buNone/>
            </a:pPr>
            <a:r>
              <a:rPr lang="en-US" sz="1000" dirty="0">
                <a:solidFill>
                  <a:srgbClr val="233E32"/>
                </a:solidFill>
                <a:latin typeface="Alice" pitchFamily="34" charset="0"/>
                <a:ea typeface="Alice" pitchFamily="34" charset="-122"/>
                <a:cs typeface="Times New Roman" panose="02020603050405020304" pitchFamily="18" charset="0"/>
              </a:rPr>
              <a:t>Kết quả</a:t>
            </a:r>
            <a:endParaRPr lang="en-US" sz="1000" dirty="0"/>
          </a:p>
        </p:txBody>
      </p:sp>
      <p:sp>
        <p:nvSpPr>
          <p:cNvPr id="7" name="Text 4"/>
          <p:cNvSpPr/>
          <p:nvPr/>
        </p:nvSpPr>
        <p:spPr>
          <a:xfrm>
            <a:off x="2112612" y="5370711"/>
            <a:ext cx="1920331" cy="335756"/>
          </a:xfrm>
          <a:prstGeom prst="rect">
            <a:avLst/>
          </a:prstGeom>
          <a:noFill/>
          <a:ln/>
        </p:spPr>
        <p:txBody>
          <a:bodyPr wrap="none" lIns="0" tIns="0" rIns="0" bIns="0" rtlCol="0" anchor="t"/>
          <a:lstStyle/>
          <a:p>
            <a:pPr marL="0" indent="0" algn="ctr">
              <a:lnSpc>
                <a:spcPct val="83000"/>
              </a:lnSpc>
              <a:buNone/>
            </a:pPr>
            <a:r>
              <a:rPr lang="en-US" sz="2600" dirty="0">
                <a:solidFill>
                  <a:srgbClr val="2C2821"/>
                </a:solidFill>
                <a:latin typeface="Alice" pitchFamily="34" charset="0"/>
                <a:ea typeface="Alice" pitchFamily="34" charset="-122"/>
                <a:cs typeface="Times New Roman" panose="02020603050405020304" pitchFamily="18" charset="0"/>
              </a:rPr>
              <a:t>641</a:t>
            </a:r>
            <a:endParaRPr lang="en-US" sz="2600" dirty="0"/>
          </a:p>
        </p:txBody>
      </p:sp>
      <p:sp>
        <p:nvSpPr>
          <p:cNvPr id="8" name="Text 5"/>
          <p:cNvSpPr/>
          <p:nvPr/>
        </p:nvSpPr>
        <p:spPr>
          <a:xfrm>
            <a:off x="2436950" y="5798344"/>
            <a:ext cx="1271754" cy="158948"/>
          </a:xfrm>
          <a:prstGeom prst="rect">
            <a:avLst/>
          </a:prstGeom>
          <a:noFill/>
          <a:ln/>
        </p:spPr>
        <p:txBody>
          <a:bodyPr wrap="none" lIns="0" tIns="0" rIns="0" bIns="0" rtlCol="0" anchor="t"/>
          <a:lstStyle/>
          <a:p>
            <a:pPr marL="0" indent="0" algn="ctr">
              <a:lnSpc>
                <a:spcPct val="104000"/>
              </a:lnSpc>
              <a:buNone/>
            </a:pPr>
            <a:r>
              <a:rPr lang="en-US" sz="1000" dirty="0">
                <a:solidFill>
                  <a:srgbClr val="2C2821"/>
                </a:solidFill>
                <a:latin typeface="Alice" pitchFamily="34" charset="0"/>
                <a:ea typeface="Alice" pitchFamily="34" charset="-122"/>
                <a:cs typeface="Times New Roman" panose="02020603050405020304" pitchFamily="18" charset="0"/>
              </a:rPr>
              <a:t>Tổng số ngày</a:t>
            </a:r>
            <a:endParaRPr lang="en-US" sz="1000" dirty="0"/>
          </a:p>
        </p:txBody>
      </p:sp>
      <p:sp>
        <p:nvSpPr>
          <p:cNvPr id="9" name="Text 6"/>
          <p:cNvSpPr/>
          <p:nvPr/>
        </p:nvSpPr>
        <p:spPr>
          <a:xfrm>
            <a:off x="1595596" y="5990134"/>
            <a:ext cx="2954462" cy="125115"/>
          </a:xfrm>
          <a:prstGeom prst="rect">
            <a:avLst/>
          </a:prstGeom>
          <a:noFill/>
          <a:ln/>
        </p:spPr>
        <p:txBody>
          <a:bodyPr wrap="none" lIns="0" tIns="0" rIns="0" bIns="0" rtlCol="0" anchor="t"/>
          <a:lstStyle/>
          <a:p>
            <a:pPr marL="0" indent="0" algn="ctr">
              <a:lnSpc>
                <a:spcPct val="103000"/>
              </a:lnSpc>
              <a:buNone/>
            </a:pPr>
            <a:r>
              <a:rPr lang="en-US" sz="800" dirty="0">
                <a:solidFill>
                  <a:srgbClr val="2C2821"/>
                </a:solidFill>
                <a:latin typeface="Lora" pitchFamily="34" charset="0"/>
                <a:ea typeface="Lora" pitchFamily="34" charset="-122"/>
                <a:cs typeface="Times New Roman" panose="02020603050405020304" pitchFamily="18" charset="0"/>
              </a:rPr>
              <a:t>Phân tích từ 14/02/2024 đến 26/01/2026</a:t>
            </a:r>
            <a:endParaRPr lang="en-US" sz="800" dirty="0"/>
          </a:p>
        </p:txBody>
      </p:sp>
      <p:sp>
        <p:nvSpPr>
          <p:cNvPr id="10" name="Text 7"/>
          <p:cNvSpPr/>
          <p:nvPr/>
        </p:nvSpPr>
        <p:spPr>
          <a:xfrm>
            <a:off x="5135533" y="5370711"/>
            <a:ext cx="1920430" cy="335756"/>
          </a:xfrm>
          <a:prstGeom prst="rect">
            <a:avLst/>
          </a:prstGeom>
          <a:noFill/>
          <a:ln/>
        </p:spPr>
        <p:txBody>
          <a:bodyPr wrap="none" lIns="0" tIns="0" rIns="0" bIns="0" rtlCol="0" anchor="t"/>
          <a:lstStyle/>
          <a:p>
            <a:pPr marL="0" indent="0" algn="ctr">
              <a:lnSpc>
                <a:spcPct val="83000"/>
              </a:lnSpc>
              <a:buNone/>
            </a:pPr>
            <a:r>
              <a:rPr lang="en-US" sz="2600" dirty="0">
                <a:solidFill>
                  <a:srgbClr val="2C2821"/>
                </a:solidFill>
                <a:latin typeface="Alice" pitchFamily="34" charset="0"/>
                <a:ea typeface="Alice" pitchFamily="34" charset="-122"/>
                <a:cs typeface="Times New Roman" panose="02020603050405020304" pitchFamily="18" charset="0"/>
              </a:rPr>
              <a:t>100</a:t>
            </a:r>
            <a:endParaRPr lang="en-US" sz="2600" dirty="0"/>
          </a:p>
        </p:txBody>
      </p:sp>
      <p:sp>
        <p:nvSpPr>
          <p:cNvPr id="11" name="Text 8"/>
          <p:cNvSpPr/>
          <p:nvPr/>
        </p:nvSpPr>
        <p:spPr>
          <a:xfrm>
            <a:off x="5459871" y="5798344"/>
            <a:ext cx="1271754" cy="158948"/>
          </a:xfrm>
          <a:prstGeom prst="rect">
            <a:avLst/>
          </a:prstGeom>
          <a:noFill/>
          <a:ln/>
        </p:spPr>
        <p:txBody>
          <a:bodyPr wrap="none" lIns="0" tIns="0" rIns="0" bIns="0" rtlCol="0" anchor="t"/>
          <a:lstStyle/>
          <a:p>
            <a:pPr marL="0" indent="0" algn="ctr">
              <a:lnSpc>
                <a:spcPct val="104000"/>
              </a:lnSpc>
              <a:buNone/>
            </a:pPr>
            <a:r>
              <a:rPr lang="en-US" sz="1000" dirty="0">
                <a:solidFill>
                  <a:srgbClr val="2C2821"/>
                </a:solidFill>
                <a:latin typeface="Alice" pitchFamily="34" charset="0"/>
                <a:ea typeface="Alice" pitchFamily="34" charset="-122"/>
                <a:cs typeface="Times New Roman" panose="02020603050405020304" pitchFamily="18" charset="0"/>
              </a:rPr>
              <a:t>Ngày vượt ngưỡng</a:t>
            </a:r>
            <a:endParaRPr lang="en-US" sz="1000" dirty="0"/>
          </a:p>
        </p:txBody>
      </p:sp>
      <p:sp>
        <p:nvSpPr>
          <p:cNvPr id="12" name="Text 9"/>
          <p:cNvSpPr/>
          <p:nvPr/>
        </p:nvSpPr>
        <p:spPr>
          <a:xfrm>
            <a:off x="4618517" y="5990134"/>
            <a:ext cx="2954561" cy="125115"/>
          </a:xfrm>
          <a:prstGeom prst="rect">
            <a:avLst/>
          </a:prstGeom>
          <a:noFill/>
          <a:ln/>
        </p:spPr>
        <p:txBody>
          <a:bodyPr wrap="none" lIns="0" tIns="0" rIns="0" bIns="0" rtlCol="0" anchor="t"/>
          <a:lstStyle/>
          <a:p>
            <a:pPr marL="0" indent="0" algn="ctr">
              <a:lnSpc>
                <a:spcPct val="103000"/>
              </a:lnSpc>
              <a:buNone/>
            </a:pPr>
            <a:r>
              <a:rPr lang="en-US" sz="800" dirty="0">
                <a:solidFill>
                  <a:srgbClr val="2C2821"/>
                </a:solidFill>
                <a:latin typeface="Lora" pitchFamily="34" charset="0"/>
                <a:ea typeface="Lora" pitchFamily="34" charset="-122"/>
                <a:cs typeface="Times New Roman" panose="02020603050405020304" pitchFamily="18" charset="0"/>
              </a:rPr>
              <a:t>PM2.5 trung bình &gt; 50 µg/m³</a:t>
            </a:r>
            <a:endParaRPr lang="en-US" sz="800" dirty="0"/>
          </a:p>
        </p:txBody>
      </p:sp>
      <p:sp>
        <p:nvSpPr>
          <p:cNvPr id="13" name="Text 10"/>
          <p:cNvSpPr/>
          <p:nvPr/>
        </p:nvSpPr>
        <p:spPr>
          <a:xfrm>
            <a:off x="8158554" y="5370711"/>
            <a:ext cx="1920430" cy="335756"/>
          </a:xfrm>
          <a:prstGeom prst="rect">
            <a:avLst/>
          </a:prstGeom>
          <a:noFill/>
          <a:ln/>
        </p:spPr>
        <p:txBody>
          <a:bodyPr wrap="none" lIns="0" tIns="0" rIns="0" bIns="0" rtlCol="0" anchor="t"/>
          <a:lstStyle/>
          <a:p>
            <a:pPr marL="0" indent="0" algn="ctr">
              <a:lnSpc>
                <a:spcPct val="83000"/>
              </a:lnSpc>
              <a:buNone/>
            </a:pPr>
            <a:r>
              <a:rPr lang="en-US" sz="2600" dirty="0">
                <a:solidFill>
                  <a:srgbClr val="2C2821"/>
                </a:solidFill>
                <a:latin typeface="Alice" pitchFamily="34" charset="0"/>
                <a:ea typeface="Alice" pitchFamily="34" charset="-122"/>
                <a:cs typeface="Times New Roman" panose="02020603050405020304" pitchFamily="18" charset="0"/>
              </a:rPr>
              <a:t>15.6%</a:t>
            </a:r>
            <a:endParaRPr lang="en-US" sz="2600" dirty="0"/>
          </a:p>
        </p:txBody>
      </p:sp>
      <p:sp>
        <p:nvSpPr>
          <p:cNvPr id="14" name="Text 11"/>
          <p:cNvSpPr/>
          <p:nvPr/>
        </p:nvSpPr>
        <p:spPr>
          <a:xfrm>
            <a:off x="8482892" y="5798344"/>
            <a:ext cx="1271754" cy="158948"/>
          </a:xfrm>
          <a:prstGeom prst="rect">
            <a:avLst/>
          </a:prstGeom>
          <a:noFill/>
          <a:ln/>
        </p:spPr>
        <p:txBody>
          <a:bodyPr wrap="none" lIns="0" tIns="0" rIns="0" bIns="0" rtlCol="0" anchor="t"/>
          <a:lstStyle/>
          <a:p>
            <a:pPr marL="0" indent="0" algn="ctr">
              <a:lnSpc>
                <a:spcPct val="104000"/>
              </a:lnSpc>
              <a:buNone/>
            </a:pPr>
            <a:r>
              <a:rPr lang="en-US" sz="1000" dirty="0">
                <a:solidFill>
                  <a:srgbClr val="2C2821"/>
                </a:solidFill>
                <a:latin typeface="Alice" pitchFamily="34" charset="0"/>
                <a:ea typeface="Alice" pitchFamily="34" charset="-122"/>
                <a:cs typeface="Times New Roman" panose="02020603050405020304" pitchFamily="18" charset="0"/>
              </a:rPr>
              <a:t>Tỷ lệ vượt ngưỡng</a:t>
            </a:r>
            <a:endParaRPr lang="en-US" sz="1000" dirty="0"/>
          </a:p>
        </p:txBody>
      </p:sp>
      <p:sp>
        <p:nvSpPr>
          <p:cNvPr id="15" name="Text 12"/>
          <p:cNvSpPr/>
          <p:nvPr/>
        </p:nvSpPr>
        <p:spPr>
          <a:xfrm>
            <a:off x="7641538" y="5990134"/>
            <a:ext cx="2954561" cy="125115"/>
          </a:xfrm>
          <a:prstGeom prst="rect">
            <a:avLst/>
          </a:prstGeom>
          <a:noFill/>
          <a:ln/>
        </p:spPr>
        <p:txBody>
          <a:bodyPr wrap="none" lIns="0" tIns="0" rIns="0" bIns="0" rtlCol="0" anchor="t"/>
          <a:lstStyle/>
          <a:p>
            <a:pPr marL="0" indent="0" algn="ctr">
              <a:lnSpc>
                <a:spcPct val="103000"/>
              </a:lnSpc>
              <a:buNone/>
            </a:pPr>
            <a:r>
              <a:rPr lang="en-US" sz="800" dirty="0">
                <a:solidFill>
                  <a:srgbClr val="2C2821"/>
                </a:solidFill>
                <a:latin typeface="Lora" pitchFamily="34" charset="0"/>
                <a:ea typeface="Lora" pitchFamily="34" charset="-122"/>
                <a:cs typeface="Times New Roman" panose="02020603050405020304" pitchFamily="18" charset="0"/>
              </a:rPr>
              <a:t>Phần lớn các ngày có PM2.5 dưới ngưỡng</a:t>
            </a:r>
            <a:endParaRPr lang="en-US" sz="800" dirty="0"/>
          </a:p>
        </p:txBody>
      </p:sp>
      <p:sp>
        <p:nvSpPr>
          <p:cNvPr id="16" name="Text 13"/>
          <p:cNvSpPr/>
          <p:nvPr/>
        </p:nvSpPr>
        <p:spPr>
          <a:xfrm>
            <a:off x="1595596" y="6176863"/>
            <a:ext cx="9610088" cy="125115"/>
          </a:xfrm>
          <a:prstGeom prst="rect">
            <a:avLst/>
          </a:prstGeom>
          <a:noFill/>
          <a:ln/>
        </p:spPr>
        <p:txBody>
          <a:bodyPr wrap="none" lIns="0" tIns="0" rIns="0" bIns="0" rtlCol="0" anchor="t"/>
          <a:lstStyle/>
          <a:p>
            <a:pPr marL="0" indent="0" algn="l">
              <a:lnSpc>
                <a:spcPct val="103000"/>
              </a:lnSpc>
              <a:buNone/>
            </a:pPr>
            <a:r>
              <a:rPr lang="en-US" sz="800" dirty="0">
                <a:solidFill>
                  <a:srgbClr val="2C2821"/>
                </a:solidFill>
                <a:latin typeface="Lora" pitchFamily="34" charset="0"/>
                <a:ea typeface="Lora" pitchFamily="34" charset="-122"/>
                <a:cs typeface="Times New Roman" panose="02020603050405020304" pitchFamily="18" charset="0"/>
              </a:rPr>
              <a:t>Tuy nhiên vẫn có 100 ngày vượt ngưỡng, cho thấy Hà Nội có những giai đoạn chất lượng không khí suy giảm rõ rệt.</a:t>
            </a:r>
            <a:endParaRPr lang="en-US" sz="800" dirty="0"/>
          </a:p>
        </p:txBody>
      </p:sp>
      <p:pic>
        <p:nvPicPr>
          <p:cNvPr id="17" name="Picture 16">
            <a:extLst>
              <a:ext uri="{FF2B5EF4-FFF2-40B4-BE49-F238E27FC236}">
                <a16:creationId xmlns:a16="http://schemas.microsoft.com/office/drawing/2014/main" id="{53C07FB0-F036-8F50-5CDA-D6B2A5813425}"/>
              </a:ext>
            </a:extLst>
          </p:cNvPr>
          <p:cNvPicPr>
            <a:picLocks noChangeAspect="1"/>
          </p:cNvPicPr>
          <p:nvPr/>
        </p:nvPicPr>
        <p:blipFill>
          <a:blip r:embed="rId3"/>
          <a:stretch>
            <a:fillRect/>
          </a:stretch>
        </p:blipFill>
        <p:spPr>
          <a:xfrm>
            <a:off x="11033620" y="6551370"/>
            <a:ext cx="1158380" cy="306630"/>
          </a:xfrm>
          <a:prstGeom prst="rect">
            <a:avLst/>
          </a:prstGeom>
        </p:spPr>
      </p:pic>
      <p:pic>
        <p:nvPicPr>
          <p:cNvPr id="19" name="Picture 18">
            <a:extLst>
              <a:ext uri="{FF2B5EF4-FFF2-40B4-BE49-F238E27FC236}">
                <a16:creationId xmlns:a16="http://schemas.microsoft.com/office/drawing/2014/main" id="{95988831-89AE-CB5E-0B1D-7FBCBC3B3C2E}"/>
              </a:ext>
            </a:extLst>
          </p:cNvPr>
          <p:cNvPicPr>
            <a:picLocks noChangeAspect="1"/>
          </p:cNvPicPr>
          <p:nvPr/>
        </p:nvPicPr>
        <p:blipFill>
          <a:blip r:embed="rId4"/>
          <a:stretch>
            <a:fillRect/>
          </a:stretch>
        </p:blipFill>
        <p:spPr>
          <a:xfrm>
            <a:off x="3476935" y="2025511"/>
            <a:ext cx="6977319" cy="3104166"/>
          </a:xfrm>
          <a:prstGeom prst="rect">
            <a:avLst/>
          </a:prstGeom>
        </p:spPr>
      </p:pic>
      <p:pic>
        <p:nvPicPr>
          <p:cNvPr id="21" name="Picture 20">
            <a:extLst>
              <a:ext uri="{FF2B5EF4-FFF2-40B4-BE49-F238E27FC236}">
                <a16:creationId xmlns:a16="http://schemas.microsoft.com/office/drawing/2014/main" id="{5B5DE13E-C948-177A-5C93-B2AC7CB23245}"/>
              </a:ext>
            </a:extLst>
          </p:cNvPr>
          <p:cNvPicPr>
            <a:picLocks noChangeAspect="1"/>
          </p:cNvPicPr>
          <p:nvPr/>
        </p:nvPicPr>
        <p:blipFill>
          <a:blip r:embed="rId5"/>
          <a:stretch>
            <a:fillRect/>
          </a:stretch>
        </p:blipFill>
        <p:spPr>
          <a:xfrm>
            <a:off x="867660" y="5056324"/>
            <a:ext cx="10338024" cy="16429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55979" y="567530"/>
            <a:ext cx="10506093" cy="731881"/>
          </a:xfrm>
          <a:prstGeom prst="rect">
            <a:avLst/>
          </a:prstGeom>
          <a:noFill/>
          <a:ln/>
        </p:spPr>
        <p:txBody>
          <a:bodyPr wrap="none" lIns="0" tIns="0" rIns="0" bIns="0" rtlCol="0" anchor="t"/>
          <a:lstStyle/>
          <a:p>
            <a:pPr marL="0" indent="0" algn="r">
              <a:lnSpc>
                <a:spcPct val="104000"/>
              </a:lnSpc>
              <a:buNone/>
            </a:pPr>
            <a:r>
              <a:rPr lang="en-US" sz="2000" b="1" dirty="0">
                <a:solidFill>
                  <a:srgbClr val="233E32"/>
                </a:solidFill>
                <a:latin typeface="Times New Roman" panose="02020603050405020304" pitchFamily="18" charset="0"/>
                <a:ea typeface="Alice" pitchFamily="34" charset="-122"/>
                <a:cs typeface="Times New Roman" panose="02020603050405020304" pitchFamily="18" charset="0"/>
              </a:rPr>
              <a:t>KẾT QUẢ CÂU HỎI 2: KHUNG GIỜ PM2.5 CAO NHẤT</a:t>
            </a:r>
            <a:endParaRPr lang="en-US" sz="2000" b="1" dirty="0">
              <a:latin typeface="Times New Roman" panose="02020603050405020304" pitchFamily="18" charset="0"/>
              <a:cs typeface="Times New Roman" panose="02020603050405020304" pitchFamily="18" charset="0"/>
            </a:endParaRPr>
          </a:p>
        </p:txBody>
      </p:sp>
      <p:sp>
        <p:nvSpPr>
          <p:cNvPr id="3" name="Text 1"/>
          <p:cNvSpPr/>
          <p:nvPr/>
        </p:nvSpPr>
        <p:spPr>
          <a:xfrm>
            <a:off x="346509" y="847024"/>
            <a:ext cx="2464068" cy="1251284"/>
          </a:xfrm>
          <a:prstGeom prst="rect">
            <a:avLst/>
          </a:prstGeom>
          <a:noFill/>
          <a:ln/>
        </p:spPr>
        <p:txBody>
          <a:bodyPr wrap="none" lIns="0" tIns="0" rIns="0" bIns="0" rtlCol="0" anchor="t"/>
          <a:lstStyle/>
          <a:p>
            <a:pPr marL="0" indent="0" algn="l">
              <a:lnSpc>
                <a:spcPct val="104000"/>
              </a:lnSpc>
              <a:buNone/>
            </a:pPr>
            <a:r>
              <a:rPr lang="en-US" sz="2200" dirty="0">
                <a:solidFill>
                  <a:srgbClr val="233E32"/>
                </a:solidFill>
                <a:latin typeface="Times New Roman" panose="02020603050405020304" pitchFamily="18" charset="0"/>
                <a:ea typeface="Alice" pitchFamily="34" charset="-122"/>
                <a:cs typeface="Times New Roman" panose="02020603050405020304" pitchFamily="18" charset="0"/>
              </a:rPr>
              <a:t>Nhận xét</a:t>
            </a:r>
            <a:endParaRPr lang="en-US" sz="2200" dirty="0">
              <a:latin typeface="Times New Roman" panose="02020603050405020304" pitchFamily="18" charset="0"/>
              <a:cs typeface="Times New Roman" panose="02020603050405020304" pitchFamily="18" charset="0"/>
            </a:endParaRPr>
          </a:p>
        </p:txBody>
      </p:sp>
      <p:sp>
        <p:nvSpPr>
          <p:cNvPr id="4" name="Text 2"/>
          <p:cNvSpPr/>
          <p:nvPr/>
        </p:nvSpPr>
        <p:spPr>
          <a:xfrm>
            <a:off x="346509" y="1299412"/>
            <a:ext cx="5543961" cy="1982804"/>
          </a:xfrm>
          <a:prstGeom prst="rect">
            <a:avLst/>
          </a:prstGeom>
          <a:noFill/>
          <a:ln/>
        </p:spPr>
        <p:txBody>
          <a:bodyPr wrap="square" lIns="0" tIns="0" rIns="0" bIns="0" rtlCol="0" anchor="t">
            <a:noAutofit/>
          </a:bodyPr>
          <a:lstStyle/>
          <a:p>
            <a:pPr marL="0" indent="0" algn="l">
              <a:lnSpc>
                <a:spcPct val="126000"/>
              </a:lnSpc>
              <a:buNone/>
            </a:pPr>
            <a:r>
              <a:rPr lang="en-US" sz="2200" dirty="0">
                <a:solidFill>
                  <a:srgbClr val="2C2821"/>
                </a:solidFill>
                <a:latin typeface="Times New Roman" panose="02020603050405020304" pitchFamily="18" charset="0"/>
                <a:ea typeface="Lora" pitchFamily="34" charset="-122"/>
                <a:cs typeface="Times New Roman" panose="02020603050405020304" pitchFamily="18" charset="0"/>
              </a:rPr>
              <a:t>PM2.5 không phân bố đều trong ngày. Một số khung giờ có PM2.5 cao hơn các khung giờ khác. Thời điểm chiều tối có thể chịu ảnh hưởng bởi giao thông, sinh hoạt đô thị và điều kiện khuếch tán không khí.</a:t>
            </a:r>
            <a:endParaRPr lang="en-US" sz="2200" dirty="0">
              <a:latin typeface="Times New Roman" panose="02020603050405020304" pitchFamily="18" charset="0"/>
              <a:cs typeface="Times New Roman" panose="02020603050405020304" pitchFamily="18" charset="0"/>
            </a:endParaRPr>
          </a:p>
        </p:txBody>
      </p:sp>
      <p:pic>
        <p:nvPicPr>
          <p:cNvPr id="8" name="Image 1" descr="preencoded.png"/>
          <p:cNvPicPr>
            <a:picLocks noChangeAspect="1"/>
          </p:cNvPicPr>
          <p:nvPr/>
        </p:nvPicPr>
        <p:blipFill>
          <a:blip r:embed="rId3"/>
          <a:stretch>
            <a:fillRect/>
          </a:stretch>
        </p:blipFill>
        <p:spPr>
          <a:xfrm>
            <a:off x="6307575" y="1487091"/>
            <a:ext cx="4634491" cy="4634607"/>
          </a:xfrm>
          <a:prstGeom prst="rect">
            <a:avLst/>
          </a:prstGeom>
        </p:spPr>
      </p:pic>
      <p:pic>
        <p:nvPicPr>
          <p:cNvPr id="9" name="Picture 8">
            <a:extLst>
              <a:ext uri="{FF2B5EF4-FFF2-40B4-BE49-F238E27FC236}">
                <a16:creationId xmlns:a16="http://schemas.microsoft.com/office/drawing/2014/main" id="{C64F95C1-EF96-C154-52CC-AF65AE5DEBE1}"/>
              </a:ext>
            </a:extLst>
          </p:cNvPr>
          <p:cNvPicPr>
            <a:picLocks noChangeAspect="1"/>
          </p:cNvPicPr>
          <p:nvPr/>
        </p:nvPicPr>
        <p:blipFill>
          <a:blip r:embed="rId4"/>
          <a:stretch>
            <a:fillRect/>
          </a:stretch>
        </p:blipFill>
        <p:spPr>
          <a:xfrm>
            <a:off x="11033620" y="6551370"/>
            <a:ext cx="1158380" cy="306630"/>
          </a:xfrm>
          <a:prstGeom prst="rect">
            <a:avLst/>
          </a:prstGeom>
        </p:spPr>
      </p:pic>
      <p:pic>
        <p:nvPicPr>
          <p:cNvPr id="13" name="Picture 12">
            <a:extLst>
              <a:ext uri="{FF2B5EF4-FFF2-40B4-BE49-F238E27FC236}">
                <a16:creationId xmlns:a16="http://schemas.microsoft.com/office/drawing/2014/main" id="{8C4A12D9-EEF2-89AE-C352-D208258A5BF6}"/>
              </a:ext>
            </a:extLst>
          </p:cNvPr>
          <p:cNvPicPr>
            <a:picLocks noChangeAspect="1"/>
          </p:cNvPicPr>
          <p:nvPr/>
        </p:nvPicPr>
        <p:blipFill>
          <a:blip r:embed="rId5"/>
          <a:stretch>
            <a:fillRect/>
          </a:stretch>
        </p:blipFill>
        <p:spPr>
          <a:xfrm>
            <a:off x="227521" y="3429000"/>
            <a:ext cx="6080054" cy="3386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687504" y="337343"/>
            <a:ext cx="12816284" cy="472480"/>
          </a:xfrm>
          <a:prstGeom prst="rect">
            <a:avLst/>
          </a:prstGeom>
          <a:noFill/>
          <a:ln/>
        </p:spPr>
        <p:txBody>
          <a:bodyPr wrap="none" lIns="0" tIns="0" rIns="0" bIns="0" rtlCol="0" anchor="t"/>
          <a:lstStyle/>
          <a:p>
            <a:pPr marL="0" indent="0" algn="l">
              <a:lnSpc>
                <a:spcPct val="104000"/>
              </a:lnSpc>
              <a:buNone/>
            </a:pPr>
            <a:r>
              <a:rPr lang="en-US" sz="1700" b="1" dirty="0">
                <a:solidFill>
                  <a:srgbClr val="233E32"/>
                </a:solidFill>
                <a:latin typeface="Times New Roman" panose="02020603050405020304" pitchFamily="18" charset="0"/>
                <a:ea typeface="Alice" pitchFamily="34" charset="-122"/>
                <a:cs typeface="Times New Roman" panose="02020603050405020304" pitchFamily="18" charset="0"/>
              </a:rPr>
              <a:t>KẾT QUẢ CÂU HỎI 3: ĐIỀU KIỆN THỜI TIẾT KHI PM2.5 VƯỢT NGƯỠNG</a:t>
            </a:r>
            <a:endParaRPr lang="en-US" sz="1700" b="1" dirty="0">
              <a:latin typeface="Times New Roman" panose="02020603050405020304" pitchFamily="18" charset="0"/>
              <a:cs typeface="Times New Roman" panose="02020603050405020304" pitchFamily="18" charset="0"/>
            </a:endParaRPr>
          </a:p>
        </p:txBody>
      </p:sp>
      <p:sp>
        <p:nvSpPr>
          <p:cNvPr id="3" name="Text 1"/>
          <p:cNvSpPr/>
          <p:nvPr/>
        </p:nvSpPr>
        <p:spPr>
          <a:xfrm>
            <a:off x="372817" y="573583"/>
            <a:ext cx="2499754" cy="236240"/>
          </a:xfrm>
          <a:prstGeom prst="rect">
            <a:avLst/>
          </a:prstGeom>
          <a:noFill/>
          <a:ln/>
        </p:spPr>
        <p:txBody>
          <a:bodyPr wrap="none" lIns="0" tIns="0" rIns="0" bIns="0" rtlCol="0" anchor="t"/>
          <a:lstStyle/>
          <a:p>
            <a:pPr marL="0" indent="0" algn="l">
              <a:lnSpc>
                <a:spcPct val="104000"/>
              </a:lnSpc>
              <a:buNone/>
            </a:pPr>
            <a:r>
              <a:rPr lang="en-US" sz="1700" dirty="0">
                <a:solidFill>
                  <a:srgbClr val="233E32"/>
                </a:solidFill>
                <a:latin typeface="Times New Roman" panose="02020603050405020304" pitchFamily="18" charset="0"/>
                <a:ea typeface="Alice" pitchFamily="34" charset="-122"/>
                <a:cs typeface="Times New Roman" panose="02020603050405020304" pitchFamily="18" charset="0"/>
              </a:rPr>
              <a:t>Cách thực hiện</a:t>
            </a:r>
            <a:endParaRPr lang="en-US" sz="1700" dirty="0">
              <a:latin typeface="Times New Roman" panose="02020603050405020304" pitchFamily="18" charset="0"/>
              <a:cs typeface="Times New Roman" panose="02020603050405020304" pitchFamily="18" charset="0"/>
            </a:endParaRPr>
          </a:p>
        </p:txBody>
      </p:sp>
      <p:sp>
        <p:nvSpPr>
          <p:cNvPr id="4" name="Text 2"/>
          <p:cNvSpPr/>
          <p:nvPr/>
        </p:nvSpPr>
        <p:spPr>
          <a:xfrm>
            <a:off x="777078" y="949763"/>
            <a:ext cx="5249830" cy="435372"/>
          </a:xfrm>
          <a:prstGeom prst="rect">
            <a:avLst/>
          </a:prstGeom>
          <a:noFill/>
          <a:ln/>
        </p:spPr>
        <p:txBody>
          <a:bodyPr wrap="square" lIns="0" tIns="0" rIns="0" bIns="0" rtlCol="0" anchor="t">
            <a:noAutofit/>
          </a:bodyPr>
          <a:lstStyle/>
          <a:p>
            <a:pPr marL="0" indent="0" algn="l">
              <a:lnSpc>
                <a:spcPct val="120000"/>
              </a:lnSpc>
              <a:buNone/>
            </a:pP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Chia dữ liệu thành 2 nhóm: </a:t>
            </a:r>
            <a:r>
              <a:rPr lang="en-US" sz="1700" b="1" dirty="0">
                <a:solidFill>
                  <a:srgbClr val="2C2821"/>
                </a:solidFill>
                <a:latin typeface="Times New Roman" panose="02020603050405020304" pitchFamily="18" charset="0"/>
                <a:ea typeface="Lora" pitchFamily="34" charset="-122"/>
                <a:cs typeface="Times New Roman" panose="02020603050405020304" pitchFamily="18" charset="0"/>
              </a:rPr>
              <a:t>ngày PM2.5 vượt ngưỡng</a:t>
            </a: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 và </a:t>
            </a:r>
            <a:r>
              <a:rPr lang="en-US" sz="1700" b="1" dirty="0">
                <a:solidFill>
                  <a:srgbClr val="2C2821"/>
                </a:solidFill>
                <a:latin typeface="Times New Roman" panose="02020603050405020304" pitchFamily="18" charset="0"/>
                <a:ea typeface="Lora" pitchFamily="34" charset="-122"/>
                <a:cs typeface="Times New Roman" panose="02020603050405020304" pitchFamily="18" charset="0"/>
              </a:rPr>
              <a:t>ngày bình thường</a:t>
            </a: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 So sánh các yếu tố thời tiết giữa hai nhóm.</a:t>
            </a:r>
            <a:endParaRPr lang="en-US" sz="1700" dirty="0">
              <a:latin typeface="Times New Roman" panose="02020603050405020304" pitchFamily="18" charset="0"/>
              <a:cs typeface="Times New Roman" panose="02020603050405020304" pitchFamily="18" charset="0"/>
            </a:endParaRPr>
          </a:p>
        </p:txBody>
      </p:sp>
      <p:sp>
        <p:nvSpPr>
          <p:cNvPr id="5" name="Text 3"/>
          <p:cNvSpPr/>
          <p:nvPr/>
        </p:nvSpPr>
        <p:spPr>
          <a:xfrm>
            <a:off x="180311" y="1954775"/>
            <a:ext cx="2499754" cy="236240"/>
          </a:xfrm>
          <a:prstGeom prst="rect">
            <a:avLst/>
          </a:prstGeom>
          <a:noFill/>
          <a:ln/>
        </p:spPr>
        <p:txBody>
          <a:bodyPr wrap="none" lIns="0" tIns="0" rIns="0" bIns="0" rtlCol="0" anchor="t"/>
          <a:lstStyle/>
          <a:p>
            <a:pPr marL="0" indent="0" algn="l">
              <a:lnSpc>
                <a:spcPct val="104000"/>
              </a:lnSpc>
              <a:buNone/>
            </a:pPr>
            <a:r>
              <a:rPr lang="en-US" sz="1700" dirty="0">
                <a:solidFill>
                  <a:srgbClr val="233E32"/>
                </a:solidFill>
                <a:latin typeface="Times New Roman" panose="02020603050405020304" pitchFamily="18" charset="0"/>
                <a:ea typeface="Alice" pitchFamily="34" charset="-122"/>
                <a:cs typeface="Times New Roman" panose="02020603050405020304" pitchFamily="18" charset="0"/>
              </a:rPr>
              <a:t>Các yếu tố so sánh</a:t>
            </a:r>
            <a:endParaRPr lang="en-US" sz="1700" dirty="0">
              <a:latin typeface="Times New Roman" panose="02020603050405020304" pitchFamily="18" charset="0"/>
              <a:cs typeface="Times New Roman" panose="02020603050405020304" pitchFamily="18" charset="0"/>
            </a:endParaRPr>
          </a:p>
        </p:txBody>
      </p:sp>
      <p:sp>
        <p:nvSpPr>
          <p:cNvPr id="6" name="Text 4"/>
          <p:cNvSpPr/>
          <p:nvPr/>
        </p:nvSpPr>
        <p:spPr>
          <a:xfrm>
            <a:off x="777078" y="2353798"/>
            <a:ext cx="5249830" cy="1517452"/>
          </a:xfrm>
          <a:prstGeom prst="rect">
            <a:avLst/>
          </a:prstGeom>
          <a:noFill/>
          <a:ln/>
        </p:spPr>
        <p:txBody>
          <a:bodyPr wrap="square" lIns="0" tIns="0" rIns="0" bIns="0" rtlCol="0" anchor="t">
            <a:noAutofit/>
          </a:bodyPr>
          <a:lstStyle/>
          <a:p>
            <a:pPr marL="342900" indent="-342900" algn="l">
              <a:lnSpc>
                <a:spcPct val="120000"/>
              </a:lnSpc>
              <a:buSzPct val="100000"/>
              <a:buChar char="•"/>
            </a:pP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Nhiệt độ</a:t>
            </a:r>
            <a:endParaRPr lang="en-US" sz="17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Độ ẩm</a:t>
            </a:r>
            <a:endParaRPr lang="en-US" sz="17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Tốc độ gió</a:t>
            </a:r>
            <a:endParaRPr lang="en-US" sz="17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Lượng mưa</a:t>
            </a:r>
            <a:endParaRPr lang="en-US" sz="17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Tỷ lệ ngày có mưa</a:t>
            </a:r>
            <a:endParaRPr lang="en-US" sz="17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Độ che phủ mây</a:t>
            </a:r>
            <a:endParaRPr lang="en-US" sz="1700" dirty="0">
              <a:latin typeface="Times New Roman" panose="02020603050405020304" pitchFamily="18" charset="0"/>
              <a:cs typeface="Times New Roman" panose="02020603050405020304" pitchFamily="18" charset="0"/>
            </a:endParaRPr>
          </a:p>
        </p:txBody>
      </p:sp>
      <p:sp>
        <p:nvSpPr>
          <p:cNvPr id="7" name="Text 5"/>
          <p:cNvSpPr/>
          <p:nvPr/>
        </p:nvSpPr>
        <p:spPr>
          <a:xfrm>
            <a:off x="661574" y="4493716"/>
            <a:ext cx="2499754" cy="236240"/>
          </a:xfrm>
          <a:prstGeom prst="rect">
            <a:avLst/>
          </a:prstGeom>
          <a:noFill/>
          <a:ln/>
        </p:spPr>
        <p:txBody>
          <a:bodyPr wrap="none" lIns="0" tIns="0" rIns="0" bIns="0" rtlCol="0" anchor="t"/>
          <a:lstStyle/>
          <a:p>
            <a:pPr marL="0" indent="0" algn="l">
              <a:lnSpc>
                <a:spcPct val="104000"/>
              </a:lnSpc>
              <a:buNone/>
            </a:pPr>
            <a:r>
              <a:rPr lang="en-US" sz="1700" dirty="0">
                <a:solidFill>
                  <a:srgbClr val="233E32"/>
                </a:solidFill>
                <a:latin typeface="Times New Roman" panose="02020603050405020304" pitchFamily="18" charset="0"/>
                <a:ea typeface="Alice" pitchFamily="34" charset="-122"/>
                <a:cs typeface="Times New Roman" panose="02020603050405020304" pitchFamily="18" charset="0"/>
              </a:rPr>
              <a:t>Nhận xét</a:t>
            </a:r>
            <a:endParaRPr lang="en-US" sz="1700" dirty="0">
              <a:latin typeface="Times New Roman" panose="02020603050405020304" pitchFamily="18" charset="0"/>
              <a:cs typeface="Times New Roman" panose="02020603050405020304" pitchFamily="18" charset="0"/>
            </a:endParaRPr>
          </a:p>
        </p:txBody>
      </p:sp>
      <p:sp>
        <p:nvSpPr>
          <p:cNvPr id="8" name="Text 6"/>
          <p:cNvSpPr/>
          <p:nvPr/>
        </p:nvSpPr>
        <p:spPr>
          <a:xfrm>
            <a:off x="661574" y="4850904"/>
            <a:ext cx="11254502" cy="1088430"/>
          </a:xfrm>
          <a:prstGeom prst="rect">
            <a:avLst/>
          </a:prstGeom>
          <a:noFill/>
          <a:ln/>
        </p:spPr>
        <p:txBody>
          <a:bodyPr wrap="square" lIns="0" tIns="0" rIns="0" bIns="0" rtlCol="0" anchor="t">
            <a:noAutofit/>
          </a:bodyPr>
          <a:lstStyle/>
          <a:p>
            <a:pPr marL="0" indent="0" algn="l">
              <a:lnSpc>
                <a:spcPct val="120000"/>
              </a:lnSpc>
              <a:buNone/>
            </a:pP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Các ngày PM2.5 vượt ngưỡng thường có </a:t>
            </a:r>
            <a:r>
              <a:rPr lang="en-US" sz="1700" b="1" dirty="0">
                <a:solidFill>
                  <a:srgbClr val="2C2821"/>
                </a:solidFill>
                <a:latin typeface="Times New Roman" panose="02020603050405020304" pitchFamily="18" charset="0"/>
                <a:ea typeface="Lora" pitchFamily="34" charset="-122"/>
                <a:cs typeface="Times New Roman" panose="02020603050405020304" pitchFamily="18" charset="0"/>
              </a:rPr>
              <a:t>nhiệt độ thấp hơn</a:t>
            </a: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 </a:t>
            </a:r>
            <a:r>
              <a:rPr lang="en-US" sz="1700" b="1" dirty="0">
                <a:solidFill>
                  <a:srgbClr val="2C2821"/>
                </a:solidFill>
                <a:latin typeface="Times New Roman" panose="02020603050405020304" pitchFamily="18" charset="0"/>
                <a:ea typeface="Lora" pitchFamily="34" charset="-122"/>
                <a:cs typeface="Times New Roman" panose="02020603050405020304" pitchFamily="18" charset="0"/>
              </a:rPr>
              <a:t>độ ẩm thấp hơn</a:t>
            </a: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 </a:t>
            </a:r>
            <a:r>
              <a:rPr lang="en-US" sz="1700" b="1" dirty="0">
                <a:solidFill>
                  <a:srgbClr val="2C2821"/>
                </a:solidFill>
                <a:latin typeface="Times New Roman" panose="02020603050405020304" pitchFamily="18" charset="0"/>
                <a:ea typeface="Lora" pitchFamily="34" charset="-122"/>
                <a:cs typeface="Times New Roman" panose="02020603050405020304" pitchFamily="18" charset="0"/>
              </a:rPr>
              <a:t>tốc độ gió yếu hơn</a:t>
            </a: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 và </a:t>
            </a:r>
            <a:r>
              <a:rPr lang="en-US" sz="1700" b="1" dirty="0">
                <a:solidFill>
                  <a:srgbClr val="2C2821"/>
                </a:solidFill>
                <a:latin typeface="Times New Roman" panose="02020603050405020304" pitchFamily="18" charset="0"/>
                <a:ea typeface="Lora" pitchFamily="34" charset="-122"/>
                <a:cs typeface="Times New Roman" panose="02020603050405020304" pitchFamily="18" charset="0"/>
              </a:rPr>
              <a:t>lượng mưa thấp hơn</a:t>
            </a:r>
            <a:r>
              <a:rPr lang="en-US" sz="1700" dirty="0">
                <a:solidFill>
                  <a:srgbClr val="2C2821"/>
                </a:solidFill>
                <a:latin typeface="Times New Roman" panose="02020603050405020304" pitchFamily="18" charset="0"/>
                <a:ea typeface="Lora" pitchFamily="34" charset="-122"/>
                <a:cs typeface="Times New Roman" panose="02020603050405020304" pitchFamily="18" charset="0"/>
              </a:rPr>
              <a:t>. Tỷ lệ ngày có mưa ở nhóm vượt ngưỡng thấp hơn rõ rệt so với nhóm ngày bình thường. Khi ít mưa và gió yếu, bụi mịn khó bị rửa trôi và khó phát tán, làm PM2.5 dễ tăng cao.</a:t>
            </a:r>
            <a:endParaRPr lang="en-US" sz="17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83B0230-BA9C-3C67-0AD3-753FE10A1827}"/>
              </a:ext>
            </a:extLst>
          </p:cNvPr>
          <p:cNvPicPr>
            <a:picLocks noChangeAspect="1"/>
          </p:cNvPicPr>
          <p:nvPr/>
        </p:nvPicPr>
        <p:blipFill>
          <a:blip r:embed="rId3"/>
          <a:stretch>
            <a:fillRect/>
          </a:stretch>
        </p:blipFill>
        <p:spPr>
          <a:xfrm>
            <a:off x="11033620" y="6551370"/>
            <a:ext cx="1158380" cy="306630"/>
          </a:xfrm>
          <a:prstGeom prst="rect">
            <a:avLst/>
          </a:prstGeom>
        </p:spPr>
      </p:pic>
      <p:pic>
        <p:nvPicPr>
          <p:cNvPr id="12" name="Picture 11">
            <a:extLst>
              <a:ext uri="{FF2B5EF4-FFF2-40B4-BE49-F238E27FC236}">
                <a16:creationId xmlns:a16="http://schemas.microsoft.com/office/drawing/2014/main" id="{73A4506B-125D-5038-88D4-8A3E70DB8B1B}"/>
              </a:ext>
            </a:extLst>
          </p:cNvPr>
          <p:cNvPicPr>
            <a:picLocks noChangeAspect="1"/>
          </p:cNvPicPr>
          <p:nvPr/>
        </p:nvPicPr>
        <p:blipFill>
          <a:blip r:embed="rId4"/>
          <a:stretch>
            <a:fillRect/>
          </a:stretch>
        </p:blipFill>
        <p:spPr>
          <a:xfrm>
            <a:off x="5406101" y="1544593"/>
            <a:ext cx="6605588" cy="3306311"/>
          </a:xfrm>
          <a:prstGeom prst="rect">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5838" y="330974"/>
            <a:ext cx="9491323" cy="637599"/>
          </a:xfrm>
          <a:prstGeom prst="rect">
            <a:avLst/>
          </a:prstGeom>
          <a:noFill/>
          <a:ln/>
        </p:spPr>
        <p:txBody>
          <a:bodyPr wrap="none" lIns="0" tIns="0" rIns="0" bIns="0" rtlCol="0" anchor="t"/>
          <a:lstStyle/>
          <a:p>
            <a:pPr marL="0" indent="0" algn="l">
              <a:lnSpc>
                <a:spcPct val="104000"/>
              </a:lnSpc>
              <a:buNone/>
            </a:pPr>
            <a:r>
              <a:rPr lang="en-US" sz="2000" b="1" dirty="0">
                <a:solidFill>
                  <a:srgbClr val="233E32"/>
                </a:solidFill>
                <a:latin typeface="Times New Roman" panose="02020603050405020304" pitchFamily="18" charset="0"/>
                <a:ea typeface="Alice" pitchFamily="34" charset="-122"/>
                <a:cs typeface="Times New Roman" panose="02020603050405020304" pitchFamily="18" charset="0"/>
              </a:rPr>
              <a:t>KẾT QUẢ CÂU HỎI 4: PM2.5 THAY ĐỔI THEO MÙA</a:t>
            </a:r>
            <a:endParaRPr lang="en-US" sz="2000" b="1" dirty="0">
              <a:latin typeface="Times New Roman" panose="02020603050405020304" pitchFamily="18" charset="0"/>
              <a:cs typeface="Times New Roman" panose="02020603050405020304" pitchFamily="18" charset="0"/>
            </a:endParaRPr>
          </a:p>
        </p:txBody>
      </p:sp>
      <p:sp>
        <p:nvSpPr>
          <p:cNvPr id="4" name="Text 1"/>
          <p:cNvSpPr/>
          <p:nvPr/>
        </p:nvSpPr>
        <p:spPr>
          <a:xfrm>
            <a:off x="7738711" y="731520"/>
            <a:ext cx="922581" cy="664786"/>
          </a:xfrm>
          <a:prstGeom prst="rect">
            <a:avLst/>
          </a:prstGeom>
          <a:noFill/>
          <a:ln/>
        </p:spPr>
        <p:txBody>
          <a:bodyPr wrap="none" lIns="0" tIns="0" rIns="0" bIns="0" rtlCol="0" anchor="t"/>
          <a:lstStyle/>
          <a:p>
            <a:pPr marL="0" indent="0" algn="l">
              <a:lnSpc>
                <a:spcPct val="104000"/>
              </a:lnSpc>
              <a:buNone/>
            </a:pP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Quy ước mùa</a:t>
            </a:r>
            <a:endParaRPr lang="en-US" sz="2000" dirty="0">
              <a:latin typeface="Times New Roman" panose="02020603050405020304" pitchFamily="18" charset="0"/>
              <a:cs typeface="Times New Roman" panose="02020603050405020304" pitchFamily="18" charset="0"/>
            </a:endParaRPr>
          </a:p>
        </p:txBody>
      </p:sp>
      <p:sp>
        <p:nvSpPr>
          <p:cNvPr id="5" name="Text 2"/>
          <p:cNvSpPr/>
          <p:nvPr/>
        </p:nvSpPr>
        <p:spPr>
          <a:xfrm>
            <a:off x="9172876" y="731520"/>
            <a:ext cx="2766286" cy="1552595"/>
          </a:xfrm>
          <a:prstGeom prst="rect">
            <a:avLst/>
          </a:prstGeom>
          <a:noFill/>
          <a:ln/>
        </p:spPr>
        <p:txBody>
          <a:bodyPr wrap="square" lIns="0" tIns="0" rIns="0" bIns="0" rtlCol="0" anchor="t">
            <a:noAutofit/>
          </a:bodyPr>
          <a:lstStyle/>
          <a:p>
            <a:pPr marL="342900" indent="-342900" algn="l">
              <a:lnSpc>
                <a:spcPct val="11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Mùa xuân: tháng 1, 2, 3</a:t>
            </a:r>
            <a:endParaRPr lang="en-US" sz="2000" dirty="0">
              <a:latin typeface="Times New Roman" panose="02020603050405020304" pitchFamily="18" charset="0"/>
              <a:cs typeface="Times New Roman" panose="02020603050405020304" pitchFamily="18" charset="0"/>
            </a:endParaRPr>
          </a:p>
          <a:p>
            <a:pPr marL="342900" indent="-342900" algn="l">
              <a:lnSpc>
                <a:spcPct val="11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Mùa hạ: tháng 4, 5, 6</a:t>
            </a:r>
            <a:endParaRPr lang="en-US" sz="2000" dirty="0">
              <a:latin typeface="Times New Roman" panose="02020603050405020304" pitchFamily="18" charset="0"/>
              <a:cs typeface="Times New Roman" panose="02020603050405020304" pitchFamily="18" charset="0"/>
            </a:endParaRPr>
          </a:p>
          <a:p>
            <a:pPr marL="342900" indent="-342900" algn="l">
              <a:lnSpc>
                <a:spcPct val="11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Mùa thu: tháng 7, 8, 9</a:t>
            </a:r>
            <a:endParaRPr lang="en-US" sz="2000" dirty="0">
              <a:latin typeface="Times New Roman" panose="02020603050405020304" pitchFamily="18" charset="0"/>
              <a:cs typeface="Times New Roman" panose="02020603050405020304" pitchFamily="18" charset="0"/>
            </a:endParaRPr>
          </a:p>
          <a:p>
            <a:pPr marL="342900" indent="-342900" algn="l">
              <a:lnSpc>
                <a:spcPct val="11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Mùa đông: tháng 10, 11, 12</a:t>
            </a:r>
            <a:endParaRPr lang="en-US" sz="2000" dirty="0">
              <a:latin typeface="Times New Roman" panose="02020603050405020304" pitchFamily="18" charset="0"/>
              <a:cs typeface="Times New Roman" panose="02020603050405020304" pitchFamily="18" charset="0"/>
            </a:endParaRPr>
          </a:p>
        </p:txBody>
      </p:sp>
      <p:sp>
        <p:nvSpPr>
          <p:cNvPr id="6" name="Text 3"/>
          <p:cNvSpPr/>
          <p:nvPr/>
        </p:nvSpPr>
        <p:spPr>
          <a:xfrm>
            <a:off x="6261042" y="2373809"/>
            <a:ext cx="3733645" cy="203498"/>
          </a:xfrm>
          <a:prstGeom prst="rect">
            <a:avLst/>
          </a:prstGeom>
          <a:noFill/>
          <a:ln/>
        </p:spPr>
        <p:txBody>
          <a:bodyPr wrap="none" lIns="0" tIns="0" rIns="0" bIns="0" rtlCol="0" anchor="t"/>
          <a:lstStyle/>
          <a:p>
            <a:pPr marL="0" indent="0" algn="l">
              <a:lnSpc>
                <a:spcPct val="104000"/>
              </a:lnSpc>
              <a:buNone/>
            </a:pPr>
            <a:endParaRPr lang="en-US" sz="2000" dirty="0">
              <a:latin typeface="Times New Roman" panose="02020603050405020304" pitchFamily="18" charset="0"/>
              <a:cs typeface="Times New Roman" panose="02020603050405020304" pitchFamily="18" charset="0"/>
            </a:endParaRPr>
          </a:p>
        </p:txBody>
      </p:sp>
      <p:sp>
        <p:nvSpPr>
          <p:cNvPr id="8" name="Text 4"/>
          <p:cNvSpPr/>
          <p:nvPr/>
        </p:nvSpPr>
        <p:spPr>
          <a:xfrm>
            <a:off x="211756" y="5287070"/>
            <a:ext cx="2716461" cy="203498"/>
          </a:xfrm>
          <a:prstGeom prst="rect">
            <a:avLst/>
          </a:prstGeom>
          <a:noFill/>
          <a:ln/>
        </p:spPr>
        <p:txBody>
          <a:bodyPr wrap="none" lIns="0" tIns="0" rIns="0" bIns="0" rtlCol="0" anchor="t"/>
          <a:lstStyle/>
          <a:p>
            <a:pPr marL="0" indent="0" algn="l">
              <a:lnSpc>
                <a:spcPct val="104000"/>
              </a:lnSpc>
              <a:buNone/>
            </a:pP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Nhận xét</a:t>
            </a:r>
            <a:endParaRPr lang="en-US" sz="2000" dirty="0">
              <a:latin typeface="Times New Roman" panose="02020603050405020304" pitchFamily="18" charset="0"/>
              <a:cs typeface="Times New Roman" panose="02020603050405020304" pitchFamily="18" charset="0"/>
            </a:endParaRPr>
          </a:p>
        </p:txBody>
      </p:sp>
      <p:sp>
        <p:nvSpPr>
          <p:cNvPr id="9" name="Text 5"/>
          <p:cNvSpPr/>
          <p:nvPr/>
        </p:nvSpPr>
        <p:spPr>
          <a:xfrm>
            <a:off x="211756" y="5687616"/>
            <a:ext cx="13645029" cy="1170384"/>
          </a:xfrm>
          <a:prstGeom prst="rect">
            <a:avLst/>
          </a:prstGeom>
          <a:noFill/>
          <a:ln/>
        </p:spPr>
        <p:txBody>
          <a:bodyPr wrap="square" lIns="0" tIns="0" rIns="0" bIns="0" rtlCol="0" anchor="t">
            <a:normAutofit/>
          </a:bodyPr>
          <a:lstStyle/>
          <a:p>
            <a:pPr marL="0" indent="0" algn="l">
              <a:lnSpc>
                <a:spcPct val="113000"/>
              </a:lnSpc>
              <a:buNone/>
            </a:pP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Mùa đông</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có PM2.5 trung bình cao nhất (41.11 µg/m³) và tỷ lệ ngày vượt ngưỡng lớn nhất (28.08%).</a:t>
            </a:r>
            <a:endParaRPr lang="vi-VN" sz="2000" dirty="0">
              <a:solidFill>
                <a:srgbClr val="2C2821"/>
              </a:solidFill>
              <a:latin typeface="Times New Roman" panose="02020603050405020304" pitchFamily="18" charset="0"/>
              <a:ea typeface="Lora" pitchFamily="34" charset="-122"/>
              <a:cs typeface="Times New Roman" panose="02020603050405020304" pitchFamily="18" charset="0"/>
            </a:endParaRPr>
          </a:p>
          <a:p>
            <a:pPr marL="0" indent="0" algn="l">
              <a:lnSpc>
                <a:spcPct val="113000"/>
              </a:lnSpc>
              <a:buNone/>
            </a:pPr>
            <a:r>
              <a:rPr lang="en-US" sz="2000" b="1" dirty="0" err="1">
                <a:solidFill>
                  <a:srgbClr val="2C2821"/>
                </a:solidFill>
                <a:latin typeface="Times New Roman" panose="02020603050405020304" pitchFamily="18" charset="0"/>
                <a:ea typeface="Lora" pitchFamily="34" charset="-122"/>
                <a:cs typeface="Times New Roman" panose="02020603050405020304" pitchFamily="18" charset="0"/>
              </a:rPr>
              <a:t>Mùa</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 thu</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có PM2.5 trung bình thấp nhất (27.29 µg/m³) và tỷ lệ ngày vượt ngưỡng thấp nhất (4.47%). PM2.5</a:t>
            </a:r>
            <a:endParaRPr lang="vi-VN" sz="2000" dirty="0">
              <a:solidFill>
                <a:srgbClr val="2C2821"/>
              </a:solidFill>
              <a:latin typeface="Times New Roman" panose="02020603050405020304" pitchFamily="18" charset="0"/>
              <a:ea typeface="Lora" pitchFamily="34" charset="-122"/>
              <a:cs typeface="Times New Roman" panose="02020603050405020304" pitchFamily="18" charset="0"/>
            </a:endParaRPr>
          </a:p>
          <a:p>
            <a:pPr marL="0" indent="0" algn="l">
              <a:lnSpc>
                <a:spcPct val="113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tại Hà Nội có sự thay đổi rõ rệt theo mùa.</a:t>
            </a:r>
            <a:endParaRPr lang="en-US"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21139CB-E05E-4B17-FFCD-D8D149FDCD80}"/>
              </a:ext>
            </a:extLst>
          </p:cNvPr>
          <p:cNvPicPr>
            <a:picLocks noChangeAspect="1"/>
          </p:cNvPicPr>
          <p:nvPr/>
        </p:nvPicPr>
        <p:blipFill>
          <a:blip r:embed="rId3"/>
          <a:stretch>
            <a:fillRect/>
          </a:stretch>
        </p:blipFill>
        <p:spPr>
          <a:xfrm>
            <a:off x="11033620" y="6551370"/>
            <a:ext cx="1406266" cy="306630"/>
          </a:xfrm>
          <a:prstGeom prst="rect">
            <a:avLst/>
          </a:prstGeom>
        </p:spPr>
      </p:pic>
      <p:pic>
        <p:nvPicPr>
          <p:cNvPr id="12" name="Picture 11">
            <a:extLst>
              <a:ext uri="{FF2B5EF4-FFF2-40B4-BE49-F238E27FC236}">
                <a16:creationId xmlns:a16="http://schemas.microsoft.com/office/drawing/2014/main" id="{16B7E573-E528-9B7D-A78C-5CF066330766}"/>
              </a:ext>
            </a:extLst>
          </p:cNvPr>
          <p:cNvPicPr>
            <a:picLocks noChangeAspect="1"/>
          </p:cNvPicPr>
          <p:nvPr/>
        </p:nvPicPr>
        <p:blipFill>
          <a:blip r:embed="rId4"/>
          <a:stretch>
            <a:fillRect/>
          </a:stretch>
        </p:blipFill>
        <p:spPr>
          <a:xfrm>
            <a:off x="15838" y="1087487"/>
            <a:ext cx="6163581" cy="3181449"/>
          </a:xfrm>
          <a:prstGeom prst="rect">
            <a:avLst/>
          </a:prstGeom>
        </p:spPr>
      </p:pic>
      <p:pic>
        <p:nvPicPr>
          <p:cNvPr id="14" name="Picture 13">
            <a:extLst>
              <a:ext uri="{FF2B5EF4-FFF2-40B4-BE49-F238E27FC236}">
                <a16:creationId xmlns:a16="http://schemas.microsoft.com/office/drawing/2014/main" id="{B9841875-1F29-A31B-D83F-645B8757F437}"/>
              </a:ext>
            </a:extLst>
          </p:cNvPr>
          <p:cNvPicPr>
            <a:picLocks noChangeAspect="1"/>
          </p:cNvPicPr>
          <p:nvPr/>
        </p:nvPicPr>
        <p:blipFill>
          <a:blip r:embed="rId5"/>
          <a:stretch>
            <a:fillRect/>
          </a:stretch>
        </p:blipFill>
        <p:spPr>
          <a:xfrm>
            <a:off x="6406589" y="2187775"/>
            <a:ext cx="5573655" cy="30992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24725" y="1020067"/>
            <a:ext cx="2828614" cy="435372"/>
          </a:xfrm>
          <a:prstGeom prst="roundRect">
            <a:avLst>
              <a:gd name="adj" fmla="val 6852"/>
            </a:avLst>
          </a:prstGeom>
          <a:solidFill>
            <a:srgbClr val="D7F4E4"/>
          </a:solidFill>
          <a:ln/>
        </p:spPr>
      </p:sp>
      <p:sp>
        <p:nvSpPr>
          <p:cNvPr id="3" name="Text 1"/>
          <p:cNvSpPr/>
          <p:nvPr/>
        </p:nvSpPr>
        <p:spPr>
          <a:xfrm>
            <a:off x="424725" y="1060154"/>
            <a:ext cx="1912493" cy="174129"/>
          </a:xfrm>
          <a:prstGeom prst="rect">
            <a:avLst/>
          </a:prstGeom>
          <a:noFill/>
          <a:ln/>
        </p:spPr>
        <p:txBody>
          <a:bodyPr wrap="none" lIns="0" tIns="0" rIns="0" bIns="0" rtlCol="0" anchor="t"/>
          <a:lstStyle/>
          <a:p>
            <a:pPr marL="0" indent="0" algn="l">
              <a:lnSpc>
                <a:spcPct val="120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CÂU HỎI 5 — KẾT QUẢ</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2625824" y="354806"/>
            <a:ext cx="5354885" cy="472480"/>
          </a:xfrm>
          <a:prstGeom prst="rect">
            <a:avLst/>
          </a:prstGeom>
          <a:noFill/>
          <a:ln/>
        </p:spPr>
        <p:txBody>
          <a:bodyPr wrap="none" lIns="0" tIns="0" rIns="0" bIns="0" rtlCol="0" anchor="t"/>
          <a:lstStyle/>
          <a:p>
            <a:pPr>
              <a:lnSpc>
                <a:spcPct val="104000"/>
              </a:lnSpc>
            </a:pP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GIAI ĐOẠN 2024–2026</a:t>
            </a:r>
            <a:r>
              <a:rPr lang="vi-VN" sz="2000" dirty="0">
                <a:solidFill>
                  <a:srgbClr val="233E32"/>
                </a:solidFill>
                <a:latin typeface="Times New Roman" panose="02020603050405020304" pitchFamily="18" charset="0"/>
                <a:ea typeface="Alice" pitchFamily="34" charset="-122"/>
                <a:cs typeface="Times New Roman" panose="02020603050405020304" pitchFamily="18" charset="0"/>
              </a:rPr>
              <a:t> </a:t>
            </a: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PM2.5 TĂNG ~60% — CHẤT LƯỢNG KHÔNG KHÍ XẤU HƠN</a:t>
            </a:r>
            <a:endParaRPr lang="en-US" sz="2000" dirty="0">
              <a:latin typeface="Times New Roman" panose="02020603050405020304" pitchFamily="18" charset="0"/>
              <a:cs typeface="Times New Roman" panose="02020603050405020304" pitchFamily="18" charset="0"/>
            </a:endParaRPr>
          </a:p>
          <a:p>
            <a:pPr marL="0" indent="0" algn="l">
              <a:lnSpc>
                <a:spcPct val="104000"/>
              </a:lnSpc>
              <a:buNone/>
            </a:pP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661574" y="1501874"/>
            <a:ext cx="9533691" cy="472480"/>
          </a:xfrm>
          <a:prstGeom prst="rect">
            <a:avLst/>
          </a:prstGeom>
          <a:noFill/>
          <a:ln/>
        </p:spPr>
        <p:txBody>
          <a:bodyPr wrap="none" lIns="0" tIns="0" rIns="0" bIns="0" rtlCol="0" anchor="t"/>
          <a:lstStyle/>
          <a:p>
            <a:pPr marL="0" indent="0" algn="l">
              <a:lnSpc>
                <a:spcPct val="104000"/>
              </a:lnSpc>
              <a:buNone/>
            </a:pP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6848502" y="2276673"/>
            <a:ext cx="2499754" cy="236240"/>
          </a:xfrm>
          <a:prstGeom prst="rect">
            <a:avLst/>
          </a:prstGeom>
          <a:noFill/>
          <a:ln/>
        </p:spPr>
        <p:txBody>
          <a:bodyPr wrap="none" lIns="0" tIns="0" rIns="0" bIns="0" rtlCol="0" anchor="t"/>
          <a:lstStyle/>
          <a:p>
            <a:pPr marL="0" indent="0" algn="l">
              <a:lnSpc>
                <a:spcPct val="104000"/>
              </a:lnSpc>
              <a:buNone/>
            </a:pP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Chỉ số chính</a:t>
            </a:r>
            <a:endParaRPr lang="en-US" sz="2000" dirty="0">
              <a:latin typeface="Times New Roman" panose="02020603050405020304" pitchFamily="18" charset="0"/>
              <a:cs typeface="Times New Roman" panose="02020603050405020304" pitchFamily="18" charset="0"/>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29453" y="2648942"/>
            <a:ext cx="2302512" cy="1133078"/>
          </a:xfrm>
          <a:prstGeom prst="rect">
            <a:avLst/>
          </a:prstGeom>
        </p:spPr>
      </p:pic>
      <p:sp>
        <p:nvSpPr>
          <p:cNvPr id="9" name="Text 5"/>
          <p:cNvSpPr/>
          <p:nvPr/>
        </p:nvSpPr>
        <p:spPr>
          <a:xfrm>
            <a:off x="7075906" y="2694133"/>
            <a:ext cx="1885804" cy="361309"/>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25.62 µg/m³</a:t>
            </a:r>
            <a:endParaRPr lang="en-US" sz="2000" dirty="0">
              <a:latin typeface="Times New Roman" panose="02020603050405020304" pitchFamily="18" charset="0"/>
              <a:cs typeface="Times New Roman" panose="02020603050405020304" pitchFamily="18" charset="0"/>
            </a:endParaRPr>
          </a:p>
        </p:txBody>
      </p:sp>
      <p:sp>
        <p:nvSpPr>
          <p:cNvPr id="10" name="Text 6"/>
          <p:cNvSpPr/>
          <p:nvPr/>
        </p:nvSpPr>
        <p:spPr>
          <a:xfrm>
            <a:off x="7075906" y="3055443"/>
            <a:ext cx="1885804" cy="556318"/>
          </a:xfrm>
          <a:prstGeom prst="rect">
            <a:avLst/>
          </a:prstGeom>
          <a:noFill/>
          <a:ln/>
        </p:spPr>
        <p:txBody>
          <a:bodyPr wrap="square" lIns="0" tIns="0" rIns="0" bIns="0" rtlCol="0" anchor="t">
            <a:noAutofit/>
          </a:bodyPr>
          <a:lstStyle/>
          <a:p>
            <a:pPr marL="0" indent="0" algn="l">
              <a:lnSpc>
                <a:spcPct val="120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PM2.5 trung bình 3 tháng đầu kỳ</a:t>
            </a:r>
            <a:endParaRPr lang="en-US" sz="2000" dirty="0">
              <a:latin typeface="Times New Roman" panose="02020603050405020304" pitchFamily="18" charset="0"/>
              <a:cs typeface="Times New Roman" panose="02020603050405020304" pitchFamily="18" charset="0"/>
            </a:endParaRPr>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33860" y="2648942"/>
            <a:ext cx="2302512" cy="1133078"/>
          </a:xfrm>
          <a:prstGeom prst="rect">
            <a:avLst/>
          </a:prstGeom>
        </p:spPr>
      </p:pic>
      <p:sp>
        <p:nvSpPr>
          <p:cNvPr id="12" name="Text 7"/>
          <p:cNvSpPr/>
          <p:nvPr/>
        </p:nvSpPr>
        <p:spPr>
          <a:xfrm>
            <a:off x="9480313" y="2819202"/>
            <a:ext cx="1885804" cy="236240"/>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41.21 µg/m³</a:t>
            </a:r>
            <a:endParaRPr lang="en-US" sz="2000" dirty="0">
              <a:latin typeface="Times New Roman" panose="02020603050405020304" pitchFamily="18" charset="0"/>
              <a:cs typeface="Times New Roman" panose="02020603050405020304" pitchFamily="18" charset="0"/>
            </a:endParaRPr>
          </a:p>
        </p:txBody>
      </p:sp>
      <p:sp>
        <p:nvSpPr>
          <p:cNvPr id="13" name="Text 8"/>
          <p:cNvSpPr/>
          <p:nvPr/>
        </p:nvSpPr>
        <p:spPr>
          <a:xfrm>
            <a:off x="9480313" y="3176389"/>
            <a:ext cx="1885804" cy="435372"/>
          </a:xfrm>
          <a:prstGeom prst="rect">
            <a:avLst/>
          </a:prstGeom>
          <a:noFill/>
          <a:ln/>
        </p:spPr>
        <p:txBody>
          <a:bodyPr wrap="square" lIns="0" tIns="0" rIns="0" bIns="0" rtlCol="0" anchor="t">
            <a:noAutofit/>
          </a:bodyPr>
          <a:lstStyle/>
          <a:p>
            <a:pPr marL="0" indent="0" algn="l">
              <a:lnSpc>
                <a:spcPct val="120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PM2.5 trung bình 3 tháng cuối kỳ</a:t>
            </a:r>
            <a:endParaRPr lang="en-US" sz="2000" dirty="0">
              <a:latin typeface="Times New Roman" panose="02020603050405020304" pitchFamily="18" charset="0"/>
              <a:cs typeface="Times New Roman" panose="02020603050405020304" pitchFamily="18" charset="0"/>
            </a:endParaRPr>
          </a:p>
        </p:txBody>
      </p:sp>
      <p:pic>
        <p:nvPicPr>
          <p:cNvPr id="1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29453" y="3902968"/>
            <a:ext cx="2302512" cy="915392"/>
          </a:xfrm>
          <a:prstGeom prst="rect">
            <a:avLst/>
          </a:prstGeom>
        </p:spPr>
      </p:pic>
      <p:sp>
        <p:nvSpPr>
          <p:cNvPr id="15" name="Text 9"/>
          <p:cNvSpPr/>
          <p:nvPr/>
        </p:nvSpPr>
        <p:spPr>
          <a:xfrm>
            <a:off x="7075906" y="4073227"/>
            <a:ext cx="1885804" cy="236240"/>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+15.59 µg/m³</a:t>
            </a:r>
            <a:endParaRPr lang="en-US" sz="2000" dirty="0">
              <a:latin typeface="Times New Roman" panose="02020603050405020304" pitchFamily="18" charset="0"/>
              <a:cs typeface="Times New Roman" panose="02020603050405020304" pitchFamily="18" charset="0"/>
            </a:endParaRPr>
          </a:p>
        </p:txBody>
      </p:sp>
      <p:sp>
        <p:nvSpPr>
          <p:cNvPr id="16" name="Text 10"/>
          <p:cNvSpPr/>
          <p:nvPr/>
        </p:nvSpPr>
        <p:spPr>
          <a:xfrm>
            <a:off x="7075906" y="4430415"/>
            <a:ext cx="1885804" cy="217686"/>
          </a:xfrm>
          <a:prstGeom prst="rect">
            <a:avLst/>
          </a:prstGeom>
          <a:noFill/>
          <a:ln/>
        </p:spPr>
        <p:txBody>
          <a:bodyPr wrap="none" lIns="0" tIns="0" rIns="0" bIns="0" rtlCol="0" anchor="t"/>
          <a:lstStyle/>
          <a:p>
            <a:pPr marL="0" indent="0" algn="l">
              <a:lnSpc>
                <a:spcPct val="120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Mức tăng tuyệt đối</a:t>
            </a:r>
            <a:endParaRPr lang="en-US" sz="2000" dirty="0">
              <a:latin typeface="Times New Roman" panose="02020603050405020304" pitchFamily="18" charset="0"/>
              <a:cs typeface="Times New Roman" panose="02020603050405020304" pitchFamily="18" charset="0"/>
            </a:endParaRPr>
          </a:p>
        </p:txBody>
      </p:sp>
      <p:pic>
        <p:nvPicPr>
          <p:cNvPr id="17"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33860" y="3902968"/>
            <a:ext cx="2302512" cy="915392"/>
          </a:xfrm>
          <a:prstGeom prst="rect">
            <a:avLst/>
          </a:prstGeom>
        </p:spPr>
      </p:pic>
      <p:sp>
        <p:nvSpPr>
          <p:cNvPr id="18" name="Text 11"/>
          <p:cNvSpPr/>
          <p:nvPr/>
        </p:nvSpPr>
        <p:spPr>
          <a:xfrm>
            <a:off x="9480313" y="4073227"/>
            <a:ext cx="1885804" cy="236240"/>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+60.85%</a:t>
            </a:r>
            <a:endParaRPr lang="en-US" sz="2000" dirty="0">
              <a:latin typeface="Times New Roman" panose="02020603050405020304" pitchFamily="18" charset="0"/>
              <a:cs typeface="Times New Roman" panose="02020603050405020304" pitchFamily="18" charset="0"/>
            </a:endParaRPr>
          </a:p>
        </p:txBody>
      </p:sp>
      <p:sp>
        <p:nvSpPr>
          <p:cNvPr id="19" name="Text 12"/>
          <p:cNvSpPr/>
          <p:nvPr/>
        </p:nvSpPr>
        <p:spPr>
          <a:xfrm>
            <a:off x="9480313" y="4430415"/>
            <a:ext cx="1885804" cy="217686"/>
          </a:xfrm>
          <a:prstGeom prst="rect">
            <a:avLst/>
          </a:prstGeom>
          <a:noFill/>
          <a:ln/>
        </p:spPr>
        <p:txBody>
          <a:bodyPr wrap="none" lIns="0" tIns="0" rIns="0" bIns="0" rtlCol="0" anchor="t"/>
          <a:lstStyle/>
          <a:p>
            <a:pPr marL="0" indent="0" algn="l">
              <a:lnSpc>
                <a:spcPct val="120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Tỷ lệ tăng tương đối</a:t>
            </a:r>
            <a:endParaRPr lang="en-US" sz="2000" dirty="0">
              <a:latin typeface="Times New Roman" panose="02020603050405020304" pitchFamily="18" charset="0"/>
              <a:cs typeface="Times New Roman" panose="02020603050405020304" pitchFamily="18" charset="0"/>
            </a:endParaRPr>
          </a:p>
        </p:txBody>
      </p:sp>
      <p:sp>
        <p:nvSpPr>
          <p:cNvPr id="20" name="Text 13"/>
          <p:cNvSpPr/>
          <p:nvPr/>
        </p:nvSpPr>
        <p:spPr>
          <a:xfrm>
            <a:off x="144380" y="5282263"/>
            <a:ext cx="11867948" cy="1269107"/>
          </a:xfrm>
          <a:prstGeom prst="rect">
            <a:avLst/>
          </a:prstGeom>
          <a:noFill/>
          <a:ln/>
        </p:spPr>
        <p:txBody>
          <a:bodyPr wrap="square" lIns="0" tIns="0" rIns="0" bIns="0" rtlCol="0" anchor="t">
            <a:noAutofit/>
          </a:bodyPr>
          <a:lstStyle/>
          <a:p>
            <a:pPr marL="0" indent="0" algn="just">
              <a:lnSpc>
                <a:spcPct val="120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PM2.5 ở giai đoạn cuối cao hơn so với giai đoạn đầu. Vì PM2.5 tăng đồng nghĩa với nồng độ bụi mịn tăng, chất lượng không khí có dấu hiệu </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xấu hơn</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Tuy nhiên, kết quả cần xem xét cùng yếu tố mùa vì giai đoạn cuối gần mùa đông, là thời điểm PM2.5 thường cao hơn.</a:t>
            </a:r>
            <a:endParaRPr lang="en-US" sz="2000"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D62FE0A9-0463-48E2-57EB-E50DA0D2FC01}"/>
              </a:ext>
            </a:extLst>
          </p:cNvPr>
          <p:cNvPicPr>
            <a:picLocks noChangeAspect="1"/>
          </p:cNvPicPr>
          <p:nvPr/>
        </p:nvPicPr>
        <p:blipFill>
          <a:blip r:embed="rId5"/>
          <a:stretch>
            <a:fillRect/>
          </a:stretch>
        </p:blipFill>
        <p:spPr>
          <a:xfrm>
            <a:off x="11033620" y="6551370"/>
            <a:ext cx="1158380" cy="306630"/>
          </a:xfrm>
          <a:prstGeom prst="rect">
            <a:avLst/>
          </a:prstGeom>
        </p:spPr>
      </p:pic>
      <p:pic>
        <p:nvPicPr>
          <p:cNvPr id="23" name="Picture 22">
            <a:extLst>
              <a:ext uri="{FF2B5EF4-FFF2-40B4-BE49-F238E27FC236}">
                <a16:creationId xmlns:a16="http://schemas.microsoft.com/office/drawing/2014/main" id="{498E6395-9316-C8B5-0B95-5F2AB3826F58}"/>
              </a:ext>
            </a:extLst>
          </p:cNvPr>
          <p:cNvPicPr>
            <a:picLocks noChangeAspect="1"/>
          </p:cNvPicPr>
          <p:nvPr/>
        </p:nvPicPr>
        <p:blipFill>
          <a:blip r:embed="rId6"/>
          <a:stretch>
            <a:fillRect/>
          </a:stretch>
        </p:blipFill>
        <p:spPr>
          <a:xfrm>
            <a:off x="0" y="2020789"/>
            <a:ext cx="6343869" cy="30117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46502" y="583405"/>
            <a:ext cx="1430599" cy="419201"/>
          </a:xfrm>
          <a:prstGeom prst="roundRect">
            <a:avLst>
              <a:gd name="adj" fmla="val 6530"/>
            </a:avLst>
          </a:prstGeom>
          <a:solidFill>
            <a:srgbClr val="D7F4E4"/>
          </a:solidFill>
          <a:ln/>
        </p:spPr>
      </p:sp>
      <p:sp>
        <p:nvSpPr>
          <p:cNvPr id="3" name="Text 1"/>
          <p:cNvSpPr/>
          <p:nvPr/>
        </p:nvSpPr>
        <p:spPr>
          <a:xfrm>
            <a:off x="812780" y="608904"/>
            <a:ext cx="1689788" cy="547291"/>
          </a:xfrm>
          <a:prstGeom prst="rect">
            <a:avLst/>
          </a:prstGeom>
          <a:noFill/>
          <a:ln/>
        </p:spPr>
        <p:txBody>
          <a:bodyPr wrap="none" lIns="0" tIns="0" rIns="0" bIns="0" rtlCol="0" anchor="t"/>
          <a:lstStyle/>
          <a:p>
            <a:pPr marL="0" indent="0" algn="l">
              <a:lnSpc>
                <a:spcPct val="129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CÂU HỎI 6</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719913" y="227405"/>
            <a:ext cx="9710098" cy="1035791"/>
          </a:xfrm>
          <a:prstGeom prst="rect">
            <a:avLst/>
          </a:prstGeom>
          <a:noFill/>
          <a:ln/>
        </p:spPr>
        <p:txBody>
          <a:bodyPr wrap="none" lIns="0" tIns="0" rIns="0" bIns="0" rtlCol="0" anchor="t"/>
          <a:lstStyle/>
          <a:p>
            <a:pPr marL="0" indent="0" algn="r">
              <a:lnSpc>
                <a:spcPct val="104000"/>
              </a:lnSpc>
              <a:buNone/>
            </a:pPr>
            <a:r>
              <a:rPr lang="en-US" sz="2000" b="1" dirty="0">
                <a:latin typeface="Times New Roman" panose="02020603050405020304" pitchFamily="18" charset="0"/>
                <a:ea typeface="Alice" pitchFamily="34" charset="-122"/>
                <a:cs typeface="Times New Roman" panose="02020603050405020304" pitchFamily="18" charset="0"/>
              </a:rPr>
              <a:t>DỰ ĐOÁN PM2.5 — 06 THÁNG CUỐI NĂM 2026</a:t>
            </a:r>
            <a:endParaRPr lang="en-US" sz="2000" b="1" dirty="0">
              <a:latin typeface="Times New Roman" panose="02020603050405020304" pitchFamily="18" charset="0"/>
              <a:cs typeface="Times New Roman" panose="02020603050405020304" pitchFamily="18" charset="0"/>
            </a:endParaRPr>
          </a:p>
        </p:txBody>
      </p:sp>
      <p:sp>
        <p:nvSpPr>
          <p:cNvPr id="5" name="Text 3"/>
          <p:cNvSpPr/>
          <p:nvPr/>
        </p:nvSpPr>
        <p:spPr>
          <a:xfrm>
            <a:off x="719913" y="1130496"/>
            <a:ext cx="10698689" cy="547291"/>
          </a:xfrm>
          <a:prstGeom prst="rect">
            <a:avLst/>
          </a:prstGeom>
          <a:noFill/>
          <a:ln/>
        </p:spPr>
        <p:txBody>
          <a:bodyPr wrap="square" lIns="0" tIns="0" rIns="0" bIns="0" rtlCol="0" anchor="t">
            <a:noAutofit/>
          </a:bodyPr>
          <a:lstStyle/>
          <a:p>
            <a:pPr marL="0" indent="0" algn="l">
              <a:lnSpc>
                <a:spcPct val="129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Sử dụng dữ liệu PM2.5 trung bình theo tháng, dựa vào đặc điểm PM2.5 của các tháng trong quá khứ, kết hợp đặc điểm mùa vụ để dự đoán PM2.5 cho các tháng tiếp theo, và so sánh kết quả dự đoán với ngưỡng PM2.5 = 50 µg/m³.</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746503" y="2569865"/>
            <a:ext cx="2819032" cy="276126"/>
          </a:xfrm>
          <a:prstGeom prst="rect">
            <a:avLst/>
          </a:prstGeom>
          <a:noFill/>
          <a:ln/>
        </p:spPr>
        <p:txBody>
          <a:bodyPr wrap="none" lIns="0" tIns="0" rIns="0" bIns="0" rtlCol="0" anchor="t"/>
          <a:lstStyle/>
          <a:p>
            <a:pPr marL="0" indent="0" algn="l">
              <a:lnSpc>
                <a:spcPct val="104000"/>
              </a:lnSpc>
              <a:buNone/>
            </a:pP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Kết quả dự đoán</a:t>
            </a:r>
            <a:endParaRPr lang="en-US" sz="2000" dirty="0">
              <a:latin typeface="Times New Roman" panose="02020603050405020304" pitchFamily="18" charset="0"/>
              <a:cs typeface="Times New Roman" panose="02020603050405020304" pitchFamily="18" charset="0"/>
            </a:endParaRPr>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2780" y="3102769"/>
            <a:ext cx="265106" cy="265113"/>
          </a:xfrm>
          <a:prstGeom prst="rect">
            <a:avLst/>
          </a:prstGeom>
        </p:spPr>
      </p:pic>
      <p:sp>
        <p:nvSpPr>
          <p:cNvPr id="8" name="Text 5"/>
          <p:cNvSpPr/>
          <p:nvPr/>
        </p:nvSpPr>
        <p:spPr>
          <a:xfrm>
            <a:off x="1320866" y="3093938"/>
            <a:ext cx="2854154" cy="547291"/>
          </a:xfrm>
          <a:prstGeom prst="rect">
            <a:avLst/>
          </a:prstGeom>
          <a:noFill/>
          <a:ln/>
        </p:spPr>
        <p:txBody>
          <a:bodyPr wrap="square" lIns="0" tIns="0" rIns="0" bIns="0" rtlCol="0" anchor="t">
            <a:noAutofit/>
          </a:bodyPr>
          <a:lstStyle/>
          <a:p>
            <a:pPr marL="0" indent="0" algn="l">
              <a:lnSpc>
                <a:spcPct val="129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PM2.5 dự đoán có sự thay đổi giữa các tháng</a:t>
            </a:r>
            <a:endParaRPr lang="en-US" sz="2000" dirty="0">
              <a:latin typeface="Times New Roman" panose="02020603050405020304" pitchFamily="18" charset="0"/>
              <a:cs typeface="Times New Roman" panose="02020603050405020304" pitchFamily="18" charset="0"/>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3070" y="4415735"/>
            <a:ext cx="265106" cy="265113"/>
          </a:xfrm>
          <a:prstGeom prst="rect">
            <a:avLst/>
          </a:prstGeom>
        </p:spPr>
      </p:pic>
      <p:sp>
        <p:nvSpPr>
          <p:cNvPr id="10" name="Text 6"/>
          <p:cNvSpPr/>
          <p:nvPr/>
        </p:nvSpPr>
        <p:spPr>
          <a:xfrm>
            <a:off x="1320866" y="4110483"/>
            <a:ext cx="2854154" cy="547291"/>
          </a:xfrm>
          <a:prstGeom prst="rect">
            <a:avLst/>
          </a:prstGeom>
          <a:noFill/>
          <a:ln/>
        </p:spPr>
        <p:txBody>
          <a:bodyPr wrap="square" lIns="0" tIns="0" rIns="0" bIns="0" rtlCol="0" anchor="t">
            <a:noAutofit/>
          </a:bodyPr>
          <a:lstStyle/>
          <a:p>
            <a:pPr marL="0" indent="0" algn="l">
              <a:lnSpc>
                <a:spcPct val="129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Một số tháng có giá trị dự đoán </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thấp hơn ngưỡng 50 µg/m³</a:t>
            </a:r>
            <a:endParaRPr lang="en-US" sz="2000" dirty="0">
              <a:latin typeface="Times New Roman" panose="02020603050405020304" pitchFamily="18" charset="0"/>
              <a:cs typeface="Times New Roman" panose="02020603050405020304" pitchFamily="18" charset="0"/>
            </a:endParaRPr>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913" y="5583939"/>
            <a:ext cx="265106" cy="265113"/>
          </a:xfrm>
          <a:prstGeom prst="rect">
            <a:avLst/>
          </a:prstGeom>
        </p:spPr>
      </p:pic>
      <p:sp>
        <p:nvSpPr>
          <p:cNvPr id="12" name="Text 7"/>
          <p:cNvSpPr/>
          <p:nvPr/>
        </p:nvSpPr>
        <p:spPr>
          <a:xfrm>
            <a:off x="1386287" y="5442849"/>
            <a:ext cx="2854154" cy="547291"/>
          </a:xfrm>
          <a:prstGeom prst="rect">
            <a:avLst/>
          </a:prstGeom>
          <a:noFill/>
          <a:ln/>
        </p:spPr>
        <p:txBody>
          <a:bodyPr wrap="square" lIns="0" tIns="0" rIns="0" bIns="0" rtlCol="0" anchor="t">
            <a:noAutofit/>
          </a:bodyPr>
          <a:lstStyle/>
          <a:p>
            <a:pPr marL="0" indent="0" algn="l">
              <a:lnSpc>
                <a:spcPct val="129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Một số tháng cuối năm có thể </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tiến gần hoặc vượt ngưỡng 50 µg/m³</a:t>
            </a:r>
            <a:endParaRPr lang="en-US" sz="20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5DA3631D-3333-6E31-7E32-E42B37CC8D52}"/>
              </a:ext>
            </a:extLst>
          </p:cNvPr>
          <p:cNvPicPr>
            <a:picLocks noChangeAspect="1"/>
          </p:cNvPicPr>
          <p:nvPr/>
        </p:nvPicPr>
        <p:blipFill>
          <a:blip r:embed="rId4"/>
          <a:stretch>
            <a:fillRect/>
          </a:stretch>
        </p:blipFill>
        <p:spPr>
          <a:xfrm>
            <a:off x="11033620" y="6551370"/>
            <a:ext cx="1158380" cy="306630"/>
          </a:xfrm>
          <a:prstGeom prst="rect">
            <a:avLst/>
          </a:prstGeom>
        </p:spPr>
      </p:pic>
      <p:pic>
        <p:nvPicPr>
          <p:cNvPr id="25" name="Picture 24">
            <a:extLst>
              <a:ext uri="{FF2B5EF4-FFF2-40B4-BE49-F238E27FC236}">
                <a16:creationId xmlns:a16="http://schemas.microsoft.com/office/drawing/2014/main" id="{FA51C048-5657-EE67-CB81-051317A15754}"/>
              </a:ext>
            </a:extLst>
          </p:cNvPr>
          <p:cNvPicPr>
            <a:picLocks noChangeAspect="1"/>
          </p:cNvPicPr>
          <p:nvPr/>
        </p:nvPicPr>
        <p:blipFill>
          <a:blip r:embed="rId5"/>
          <a:stretch>
            <a:fillRect/>
          </a:stretch>
        </p:blipFill>
        <p:spPr>
          <a:xfrm>
            <a:off x="4915346" y="2569865"/>
            <a:ext cx="6556741" cy="36730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3737" y="154732"/>
            <a:ext cx="1244867" cy="466476"/>
          </a:xfrm>
          <a:prstGeom prst="roundRect">
            <a:avLst>
              <a:gd name="adj" fmla="val 6733"/>
            </a:avLst>
          </a:prstGeom>
          <a:solidFill>
            <a:srgbClr val="D7F4E4"/>
          </a:solidFill>
          <a:ln/>
        </p:spPr>
      </p:sp>
      <p:sp>
        <p:nvSpPr>
          <p:cNvPr id="3" name="Text 1"/>
          <p:cNvSpPr/>
          <p:nvPr/>
        </p:nvSpPr>
        <p:spPr>
          <a:xfrm>
            <a:off x="257661" y="323653"/>
            <a:ext cx="1745120" cy="502046"/>
          </a:xfrm>
          <a:prstGeom prst="rect">
            <a:avLst/>
          </a:prstGeom>
          <a:noFill/>
          <a:ln/>
        </p:spPr>
        <p:txBody>
          <a:bodyPr wrap="none" lIns="0" tIns="0" rIns="0" bIns="0" rtlCol="0" anchor="t"/>
          <a:lstStyle/>
          <a:p>
            <a:pPr marL="0" indent="0" algn="l">
              <a:lnSpc>
                <a:spcPct val="123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CÂU HỎI 7</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2106705" y="186570"/>
            <a:ext cx="4626157" cy="502047"/>
          </a:xfrm>
          <a:prstGeom prst="rect">
            <a:avLst/>
          </a:prstGeom>
          <a:noFill/>
          <a:ln/>
        </p:spPr>
        <p:txBody>
          <a:bodyPr wrap="none" lIns="0" tIns="0" rIns="0" bIns="0" rtlCol="0" anchor="t"/>
          <a:lstStyle/>
          <a:p>
            <a:pPr marL="0" indent="0" algn="l">
              <a:lnSpc>
                <a:spcPct val="104000"/>
              </a:lnSpc>
              <a:buNone/>
            </a:pPr>
            <a:r>
              <a:rPr lang="en-US" sz="2000" dirty="0">
                <a:solidFill>
                  <a:srgbClr val="233E32"/>
                </a:solidFill>
                <a:latin typeface="Times New Roman" panose="02020603050405020304" pitchFamily="18" charset="0"/>
                <a:ea typeface="Alice" pitchFamily="34" charset="-122"/>
                <a:cs typeface="Times New Roman" panose="02020603050405020304" pitchFamily="18" charset="0"/>
              </a:rPr>
              <a:t>Phân Nhóm PM2.5</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1694167" y="770075"/>
            <a:ext cx="11478132" cy="237728"/>
          </a:xfrm>
          <a:prstGeom prst="rect">
            <a:avLst/>
          </a:prstGeom>
          <a:noFill/>
          <a:ln/>
        </p:spPr>
        <p:txBody>
          <a:bodyPr wrap="none" lIns="0" tIns="0" rIns="0" bIns="0" rtlCol="0" anchor="t"/>
          <a:lstStyle/>
          <a:p>
            <a:pPr marL="0" indent="0" algn="l">
              <a:lnSpc>
                <a:spcPct val="123000"/>
              </a:lnSpc>
              <a:buNone/>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Phân nhóm PM2.5 thành 03 mức </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thấp</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trung bình</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và </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cao</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như thế nào?</a:t>
            </a:r>
            <a:endParaRPr lang="en-US" sz="2000"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2201" y="1747762"/>
            <a:ext cx="3222449" cy="3010968"/>
          </a:xfrm>
          <a:prstGeom prst="rect">
            <a:avLst/>
          </a:prstGeom>
        </p:spPr>
      </p:pic>
      <p:sp>
        <p:nvSpPr>
          <p:cNvPr id="8" name="Text 4"/>
          <p:cNvSpPr/>
          <p:nvPr/>
        </p:nvSpPr>
        <p:spPr>
          <a:xfrm>
            <a:off x="5590887" y="1496739"/>
            <a:ext cx="2008236" cy="251023"/>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Phân nhóm ô nhiễm</a:t>
            </a:r>
            <a:endParaRPr lang="en-US" sz="2000" dirty="0">
              <a:latin typeface="Times New Roman" panose="02020603050405020304" pitchFamily="18" charset="0"/>
              <a:cs typeface="Times New Roman" panose="02020603050405020304" pitchFamily="18" charset="0"/>
            </a:endParaRPr>
          </a:p>
        </p:txBody>
      </p:sp>
      <p:sp>
        <p:nvSpPr>
          <p:cNvPr id="9" name="Text 5"/>
          <p:cNvSpPr/>
          <p:nvPr/>
        </p:nvSpPr>
        <p:spPr>
          <a:xfrm>
            <a:off x="5582201" y="1901352"/>
            <a:ext cx="3222449" cy="2094891"/>
          </a:xfrm>
          <a:prstGeom prst="rect">
            <a:avLst/>
          </a:prstGeom>
          <a:noFill/>
          <a:ln/>
        </p:spPr>
        <p:txBody>
          <a:bodyPr wrap="square" lIns="0" tIns="0" rIns="0" bIns="0" rtlCol="0" anchor="t">
            <a:noAutofit/>
          </a:bodyPr>
          <a:lstStyle/>
          <a:p>
            <a:pPr marL="342900" indent="-342900" algn="l">
              <a:lnSpc>
                <a:spcPct val="123000"/>
              </a:lnSpc>
              <a:buSzPct val="100000"/>
              <a:buChar char="•"/>
            </a:pP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Nhóm ô nhiễm thấp:</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PM2.5 ≤ 25 µg/m³</a:t>
            </a:r>
            <a:endParaRPr lang="en-US" sz="2000" dirty="0">
              <a:latin typeface="Times New Roman" panose="02020603050405020304" pitchFamily="18" charset="0"/>
              <a:cs typeface="Times New Roman" panose="02020603050405020304" pitchFamily="18" charset="0"/>
            </a:endParaRPr>
          </a:p>
          <a:p>
            <a:pPr marL="342900" indent="-342900">
              <a:lnSpc>
                <a:spcPct val="123000"/>
              </a:lnSpc>
              <a:buSzPct val="100000"/>
              <a:buChar char="•"/>
            </a:pP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Nhóm ô nhiễm trung bình:</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25 &lt; PM2.5 ≤ 50 µg/m³</a:t>
            </a:r>
            <a:endParaRPr lang="en-US" sz="2000" dirty="0">
              <a:latin typeface="Times New Roman" panose="02020603050405020304" pitchFamily="18" charset="0"/>
              <a:cs typeface="Times New Roman" panose="02020603050405020304" pitchFamily="18" charset="0"/>
            </a:endParaRPr>
          </a:p>
          <a:p>
            <a:pPr marL="342900" indent="-342900" algn="l">
              <a:lnSpc>
                <a:spcPct val="123000"/>
              </a:lnSpc>
              <a:buSzPct val="100000"/>
              <a:buChar char="•"/>
            </a:pP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Nhóm ô nhiễm cao:</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PM2.5 &gt; 50 µg/m³</a:t>
            </a:r>
            <a:endParaRPr lang="en-US" sz="200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49648" y="1675630"/>
            <a:ext cx="3222449" cy="3010968"/>
          </a:xfrm>
          <a:prstGeom prst="rect">
            <a:avLst/>
          </a:prstGeom>
        </p:spPr>
      </p:pic>
      <p:sp>
        <p:nvSpPr>
          <p:cNvPr id="11" name="Text 6"/>
          <p:cNvSpPr/>
          <p:nvPr/>
        </p:nvSpPr>
        <p:spPr>
          <a:xfrm>
            <a:off x="9025384" y="1442238"/>
            <a:ext cx="2008236" cy="251023"/>
          </a:xfrm>
          <a:prstGeom prst="rect">
            <a:avLst/>
          </a:prstGeom>
          <a:noFill/>
          <a:ln/>
        </p:spPr>
        <p:txBody>
          <a:bodyPr wrap="none" lIns="0" tIns="0" rIns="0" bIns="0" rtlCol="0" anchor="t"/>
          <a:lstStyle/>
          <a:p>
            <a:pPr marL="0" indent="0" algn="l">
              <a:lnSpc>
                <a:spcPct val="104000"/>
              </a:lnSpc>
              <a:buNone/>
            </a:pPr>
            <a:r>
              <a:rPr lang="en-US" sz="2000" dirty="0">
                <a:solidFill>
                  <a:srgbClr val="2C2821"/>
                </a:solidFill>
                <a:latin typeface="Times New Roman" panose="02020603050405020304" pitchFamily="18" charset="0"/>
                <a:ea typeface="Alice" pitchFamily="34" charset="-122"/>
                <a:cs typeface="Times New Roman" panose="02020603050405020304" pitchFamily="18" charset="0"/>
              </a:rPr>
              <a:t>Kết quả phân bổ</a:t>
            </a:r>
            <a:endParaRPr lang="en-US" sz="2000" dirty="0">
              <a:latin typeface="Times New Roman" panose="02020603050405020304" pitchFamily="18" charset="0"/>
              <a:cs typeface="Times New Roman" panose="02020603050405020304" pitchFamily="18" charset="0"/>
            </a:endParaRPr>
          </a:p>
        </p:txBody>
      </p:sp>
      <p:sp>
        <p:nvSpPr>
          <p:cNvPr id="12" name="Text 7"/>
          <p:cNvSpPr/>
          <p:nvPr/>
        </p:nvSpPr>
        <p:spPr>
          <a:xfrm>
            <a:off x="9109740" y="1856179"/>
            <a:ext cx="2896486" cy="2413006"/>
          </a:xfrm>
          <a:prstGeom prst="rect">
            <a:avLst/>
          </a:prstGeom>
          <a:noFill/>
          <a:ln/>
        </p:spPr>
        <p:txBody>
          <a:bodyPr wrap="square" lIns="0" tIns="0" rIns="0" bIns="0" rtlCol="0" anchor="t">
            <a:noAutofit/>
          </a:bodyPr>
          <a:lstStyle/>
          <a:p>
            <a:pPr marL="342900" indent="-342900" algn="l">
              <a:lnSpc>
                <a:spcPct val="12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Nhóm ô nhiễm thấp: </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241 ngày</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(~37.60%)</a:t>
            </a:r>
            <a:endParaRPr lang="en-US" sz="2000" dirty="0">
              <a:latin typeface="Times New Roman" panose="02020603050405020304" pitchFamily="18" charset="0"/>
              <a:cs typeface="Times New Roman" panose="02020603050405020304" pitchFamily="18" charset="0"/>
            </a:endParaRPr>
          </a:p>
          <a:p>
            <a:pPr marL="342900" indent="-342900" algn="l">
              <a:lnSpc>
                <a:spcPct val="12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Nhóm ô nhiễm trung bình: </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300 ngày</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(~46.80%)</a:t>
            </a:r>
            <a:endParaRPr lang="en-US" sz="2000" dirty="0">
              <a:latin typeface="Times New Roman" panose="02020603050405020304" pitchFamily="18" charset="0"/>
              <a:cs typeface="Times New Roman" panose="02020603050405020304" pitchFamily="18" charset="0"/>
            </a:endParaRPr>
          </a:p>
          <a:p>
            <a:pPr marL="342900" indent="-342900" algn="l">
              <a:lnSpc>
                <a:spcPct val="123000"/>
              </a:lnSpc>
              <a:buSzPct val="100000"/>
              <a:buChar char="•"/>
            </a:pP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Nhóm ô nhiễm cao: </a:t>
            </a:r>
            <a:r>
              <a:rPr lang="en-US" sz="2000" b="1" dirty="0">
                <a:solidFill>
                  <a:srgbClr val="2C2821"/>
                </a:solidFill>
                <a:latin typeface="Times New Roman" panose="02020603050405020304" pitchFamily="18" charset="0"/>
                <a:ea typeface="Lora" pitchFamily="34" charset="-122"/>
                <a:cs typeface="Times New Roman" panose="02020603050405020304" pitchFamily="18" charset="0"/>
              </a:rPr>
              <a:t>100 ngày</a:t>
            </a:r>
            <a:r>
              <a:rPr lang="en-US" sz="2000" dirty="0">
                <a:solidFill>
                  <a:srgbClr val="2C2821"/>
                </a:solidFill>
                <a:latin typeface="Times New Roman" panose="02020603050405020304" pitchFamily="18" charset="0"/>
                <a:ea typeface="Lora" pitchFamily="34" charset="-122"/>
                <a:cs typeface="Times New Roman" panose="02020603050405020304" pitchFamily="18" charset="0"/>
              </a:rPr>
              <a:t> (~15.60%)</a:t>
            </a:r>
            <a:endParaRPr lang="en-US" sz="2000" dirty="0">
              <a:latin typeface="Times New Roman" panose="02020603050405020304" pitchFamily="18" charset="0"/>
              <a:cs typeface="Times New Roman" panose="02020603050405020304" pitchFamily="18" charset="0"/>
            </a:endParaRPr>
          </a:p>
        </p:txBody>
      </p:sp>
      <p:sp>
        <p:nvSpPr>
          <p:cNvPr id="13" name="Shape 8"/>
          <p:cNvSpPr/>
          <p:nvPr/>
        </p:nvSpPr>
        <p:spPr>
          <a:xfrm>
            <a:off x="6072929" y="4840188"/>
            <a:ext cx="6119071" cy="1831242"/>
          </a:xfrm>
          <a:prstGeom prst="roundRect">
            <a:avLst>
              <a:gd name="adj" fmla="val 1888"/>
            </a:avLst>
          </a:prstGeom>
          <a:solidFill>
            <a:srgbClr val="C3EED6"/>
          </a:solidFill>
          <a:ln/>
        </p:spPr>
      </p:sp>
      <p:pic>
        <p:nvPicPr>
          <p:cNvPr id="14" name="Image 3" descr="preencoded.png"/>
          <p:cNvPicPr>
            <a:picLocks noChangeAspect="1"/>
          </p:cNvPicPr>
          <p:nvPr/>
        </p:nvPicPr>
        <p:blipFill>
          <a:blip r:embed="rId4"/>
          <a:stretch>
            <a:fillRect/>
          </a:stretch>
        </p:blipFill>
        <p:spPr>
          <a:xfrm>
            <a:off x="6233560" y="5071765"/>
            <a:ext cx="200814" cy="160635"/>
          </a:xfrm>
          <a:prstGeom prst="rect">
            <a:avLst/>
          </a:prstGeom>
        </p:spPr>
      </p:pic>
      <p:sp>
        <p:nvSpPr>
          <p:cNvPr id="15" name="Text 9"/>
          <p:cNvSpPr/>
          <p:nvPr/>
        </p:nvSpPr>
        <p:spPr>
          <a:xfrm>
            <a:off x="6595004" y="5003105"/>
            <a:ext cx="5411221" cy="950912"/>
          </a:xfrm>
          <a:prstGeom prst="rect">
            <a:avLst/>
          </a:prstGeom>
          <a:noFill/>
          <a:ln/>
        </p:spPr>
        <p:txBody>
          <a:bodyPr wrap="square" lIns="0" tIns="0" rIns="0" bIns="0" rtlCol="0" anchor="t">
            <a:noAutofit/>
          </a:bodyPr>
          <a:lstStyle/>
          <a:p>
            <a:pPr marL="0" indent="0" algn="just">
              <a:lnSpc>
                <a:spcPct val="123000"/>
              </a:lnSpc>
              <a:buNone/>
            </a:pPr>
            <a:r>
              <a:rPr lang="en-US" sz="2000" dirty="0">
                <a:solidFill>
                  <a:srgbClr val="000000"/>
                </a:solidFill>
                <a:latin typeface="Times New Roman" panose="02020603050405020304" pitchFamily="18" charset="0"/>
                <a:ea typeface="Lora" pitchFamily="34" charset="-122"/>
                <a:cs typeface="Times New Roman" panose="02020603050405020304" pitchFamily="18" charset="0"/>
              </a:rPr>
              <a:t>Nhóm ô nhiễm trung bình chiếm tỷ lệ lớn nhất. Nhóm ô nhiễm cao có 100 ngày, trùng với số ngày PM2.5 vượt ngưỡng. Việc phân nhóm giúp đánh giá chất lượng không khí trực quan và dễ hiểu hơn.</a:t>
            </a:r>
            <a:endParaRPr lang="en-US" sz="20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D5B80C94-280B-05C0-6388-66F6E438979C}"/>
              </a:ext>
            </a:extLst>
          </p:cNvPr>
          <p:cNvPicPr>
            <a:picLocks noChangeAspect="1"/>
          </p:cNvPicPr>
          <p:nvPr/>
        </p:nvPicPr>
        <p:blipFill>
          <a:blip r:embed="rId5"/>
          <a:stretch>
            <a:fillRect/>
          </a:stretch>
        </p:blipFill>
        <p:spPr>
          <a:xfrm>
            <a:off x="11033620" y="6551370"/>
            <a:ext cx="1158380" cy="306630"/>
          </a:xfrm>
          <a:prstGeom prst="rect">
            <a:avLst/>
          </a:prstGeom>
        </p:spPr>
      </p:pic>
      <p:pic>
        <p:nvPicPr>
          <p:cNvPr id="20" name="Picture 19">
            <a:extLst>
              <a:ext uri="{FF2B5EF4-FFF2-40B4-BE49-F238E27FC236}">
                <a16:creationId xmlns:a16="http://schemas.microsoft.com/office/drawing/2014/main" id="{011FEA0C-0313-14B8-F422-2006DC2865B4}"/>
              </a:ext>
            </a:extLst>
          </p:cNvPr>
          <p:cNvPicPr>
            <a:picLocks noChangeAspect="1"/>
          </p:cNvPicPr>
          <p:nvPr/>
        </p:nvPicPr>
        <p:blipFill>
          <a:blip r:embed="rId6"/>
          <a:stretch>
            <a:fillRect/>
          </a:stretch>
        </p:blipFill>
        <p:spPr>
          <a:xfrm>
            <a:off x="185774" y="1173385"/>
            <a:ext cx="4293991" cy="2209951"/>
          </a:xfrm>
          <a:prstGeom prst="rect">
            <a:avLst/>
          </a:prstGeom>
        </p:spPr>
      </p:pic>
      <p:pic>
        <p:nvPicPr>
          <p:cNvPr id="24" name="Picture 23">
            <a:extLst>
              <a:ext uri="{FF2B5EF4-FFF2-40B4-BE49-F238E27FC236}">
                <a16:creationId xmlns:a16="http://schemas.microsoft.com/office/drawing/2014/main" id="{25FF31B9-08AA-0BC5-FB30-527F764BC93F}"/>
              </a:ext>
            </a:extLst>
          </p:cNvPr>
          <p:cNvPicPr>
            <a:picLocks noChangeAspect="1"/>
          </p:cNvPicPr>
          <p:nvPr/>
        </p:nvPicPr>
        <p:blipFill>
          <a:blip r:embed="rId7"/>
          <a:stretch>
            <a:fillRect/>
          </a:stretch>
        </p:blipFill>
        <p:spPr>
          <a:xfrm>
            <a:off x="185774" y="3529113"/>
            <a:ext cx="4686393" cy="26221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574" y="766663"/>
            <a:ext cx="720744" cy="264815"/>
          </a:xfrm>
          <a:prstGeom prst="roundRect">
            <a:avLst>
              <a:gd name="adj" fmla="val 6852"/>
            </a:avLst>
          </a:prstGeom>
          <a:solidFill>
            <a:srgbClr val="D7DFF4"/>
          </a:solidFill>
          <a:ln/>
        </p:spPr>
      </p:sp>
      <p:sp>
        <p:nvSpPr>
          <p:cNvPr id="3" name="Text 1"/>
          <p:cNvSpPr/>
          <p:nvPr/>
        </p:nvSpPr>
        <p:spPr>
          <a:xfrm>
            <a:off x="752258" y="812006"/>
            <a:ext cx="1184618" cy="174129"/>
          </a:xfrm>
          <a:prstGeom prst="rect">
            <a:avLst/>
          </a:prstGeom>
          <a:noFill/>
          <a:ln/>
        </p:spPr>
        <p:txBody>
          <a:bodyPr wrap="none" lIns="0" tIns="0" rIns="0" bIns="0" rtlCol="0" anchor="t"/>
          <a:lstStyle/>
          <a:p>
            <a:pPr marL="0" indent="0" algn="l">
              <a:lnSpc>
                <a:spcPct val="12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SLIDE 13</a:t>
            </a:r>
            <a:endParaRPr lang="en-US" sz="1600" dirty="0">
              <a:latin typeface="Times New Roman" panose="02020603050405020304" pitchFamily="18" charset="0"/>
              <a:cs typeface="Times New Roman" panose="02020603050405020304" pitchFamily="18" charset="0"/>
            </a:endParaRPr>
          </a:p>
        </p:txBody>
      </p:sp>
      <p:sp>
        <p:nvSpPr>
          <p:cNvPr id="4" name="Text 2"/>
          <p:cNvSpPr/>
          <p:nvPr/>
        </p:nvSpPr>
        <p:spPr>
          <a:xfrm>
            <a:off x="661574" y="1079798"/>
            <a:ext cx="6517436" cy="472480"/>
          </a:xfrm>
          <a:prstGeom prst="rect">
            <a:avLst/>
          </a:prstGeom>
          <a:noFill/>
          <a:ln/>
        </p:spPr>
        <p:txBody>
          <a:bodyPr wrap="none" lIns="0" tIns="0" rIns="0" bIns="0" rtlCol="0" anchor="t"/>
          <a:lstStyle/>
          <a:p>
            <a:pPr marL="0" indent="0" algn="l">
              <a:lnSpc>
                <a:spcPct val="104000"/>
              </a:lnSpc>
              <a:buNone/>
            </a:pPr>
            <a:r>
              <a:rPr lang="en-US" sz="1600" b="1" dirty="0">
                <a:latin typeface="Times New Roman" panose="02020603050405020304" pitchFamily="18" charset="0"/>
                <a:ea typeface="Roboto Slab" pitchFamily="34" charset="-122"/>
                <a:cs typeface="Times New Roman" panose="02020603050405020304" pitchFamily="18" charset="0"/>
              </a:rPr>
              <a:t>KẾT LUẬN VÀ HƯỚNG PHÁT TRIỂN</a:t>
            </a:r>
            <a:endParaRPr lang="en-US" sz="1600" b="1" dirty="0">
              <a:latin typeface="Times New Roman" panose="02020603050405020304" pitchFamily="18" charset="0"/>
              <a:cs typeface="Times New Roman" panose="02020603050405020304" pitchFamily="18" charset="0"/>
            </a:endParaRPr>
          </a:p>
        </p:txBody>
      </p:sp>
      <p:sp>
        <p:nvSpPr>
          <p:cNvPr id="5" name="Text 3"/>
          <p:cNvSpPr/>
          <p:nvPr/>
        </p:nvSpPr>
        <p:spPr>
          <a:xfrm>
            <a:off x="661574" y="1600597"/>
            <a:ext cx="3936364" cy="378023"/>
          </a:xfrm>
          <a:prstGeom prst="rect">
            <a:avLst/>
          </a:prstGeom>
          <a:noFill/>
          <a:ln/>
        </p:spPr>
        <p:txBody>
          <a:bodyPr wrap="none" lIns="0" tIns="0" rIns="0" bIns="0" rtlCol="0" anchor="t"/>
          <a:lstStyle/>
          <a:p>
            <a:pPr marL="0" indent="0" algn="l">
              <a:lnSpc>
                <a:spcPct val="104000"/>
              </a:lnSpc>
              <a:buNone/>
            </a:pPr>
            <a:r>
              <a:rPr lang="en-US" sz="1600" dirty="0">
                <a:solidFill>
                  <a:srgbClr val="3257B8"/>
                </a:solidFill>
                <a:latin typeface="Times New Roman" panose="02020603050405020304" pitchFamily="18" charset="0"/>
                <a:ea typeface="Roboto Slab" pitchFamily="34" charset="-122"/>
                <a:cs typeface="Times New Roman" panose="02020603050405020304" pitchFamily="18" charset="0"/>
              </a:rPr>
              <a:t>Kết Luận</a:t>
            </a:r>
            <a:endParaRPr lang="en-US" sz="1600" dirty="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2159992"/>
            <a:ext cx="3857798" cy="1302345"/>
          </a:xfrm>
          <a:prstGeom prst="rect">
            <a:avLst/>
          </a:prstGeom>
        </p:spPr>
      </p:pic>
      <p:sp>
        <p:nvSpPr>
          <p:cNvPr id="7" name="Text 4"/>
          <p:cNvSpPr/>
          <p:nvPr/>
        </p:nvSpPr>
        <p:spPr>
          <a:xfrm>
            <a:off x="888977" y="2330252"/>
            <a:ext cx="2301953" cy="236240"/>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Phân tích dữ liệu PM2.5</a:t>
            </a:r>
            <a:endParaRPr lang="en-US" sz="1600" dirty="0">
              <a:latin typeface="Times New Roman" panose="02020603050405020304" pitchFamily="18" charset="0"/>
              <a:cs typeface="Times New Roman" panose="02020603050405020304" pitchFamily="18" charset="0"/>
            </a:endParaRPr>
          </a:p>
        </p:txBody>
      </p:sp>
      <p:sp>
        <p:nvSpPr>
          <p:cNvPr id="8" name="Text 5"/>
          <p:cNvSpPr/>
          <p:nvPr/>
        </p:nvSpPr>
        <p:spPr>
          <a:xfrm>
            <a:off x="888978" y="2639020"/>
            <a:ext cx="3406392" cy="653058"/>
          </a:xfrm>
          <a:prstGeom prst="rect">
            <a:avLst/>
          </a:prstGeom>
          <a:noFill/>
          <a:ln/>
        </p:spPr>
        <p:txBody>
          <a:bodyPr wrap="square" lIns="0" tIns="0" rIns="0" bIns="0" rtlCol="0" anchor="t">
            <a:noAutofit/>
          </a:bodyPr>
          <a:lstStyle/>
          <a:p>
            <a:pPr marL="0" indent="0" algn="l">
              <a:lnSpc>
                <a:spcPct val="12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Đề tài đã phân tích được dữ liệu PM2.5 tại Hà Nội trong giai đoạn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14/02/2024 đến 26/01/2026</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05688" y="2159992"/>
            <a:ext cx="3857798" cy="1302345"/>
          </a:xfrm>
          <a:prstGeom prst="rect">
            <a:avLst/>
          </a:prstGeom>
        </p:spPr>
      </p:pic>
      <p:sp>
        <p:nvSpPr>
          <p:cNvPr id="10" name="Text 6"/>
          <p:cNvSpPr/>
          <p:nvPr/>
        </p:nvSpPr>
        <p:spPr>
          <a:xfrm>
            <a:off x="4552142" y="2330252"/>
            <a:ext cx="2140952" cy="236240"/>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100 ngày vượt ngưỡng</a:t>
            </a:r>
            <a:endParaRPr lang="en-US" sz="1600" dirty="0">
              <a:latin typeface="Times New Roman" panose="02020603050405020304" pitchFamily="18" charset="0"/>
              <a:cs typeface="Times New Roman" panose="02020603050405020304" pitchFamily="18" charset="0"/>
            </a:endParaRPr>
          </a:p>
        </p:txBody>
      </p:sp>
      <p:sp>
        <p:nvSpPr>
          <p:cNvPr id="11" name="Text 7"/>
          <p:cNvSpPr/>
          <p:nvPr/>
        </p:nvSpPr>
        <p:spPr>
          <a:xfrm>
            <a:off x="4552142" y="2639020"/>
            <a:ext cx="3406392" cy="435372"/>
          </a:xfrm>
          <a:prstGeom prst="rect">
            <a:avLst/>
          </a:prstGeom>
          <a:noFill/>
          <a:ln/>
        </p:spPr>
        <p:txBody>
          <a:bodyPr wrap="square" lIns="0" tIns="0" rIns="0" bIns="0" rtlCol="0" anchor="t">
            <a:noAutofit/>
          </a:bodyPr>
          <a:lstStyle/>
          <a:p>
            <a:pPr marL="0" indent="0" algn="l">
              <a:lnSpc>
                <a:spcPct val="12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Có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100 ngày</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 PM2.5 trung bình vượt ngưỡng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50 µg/m³</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68852" y="2159992"/>
            <a:ext cx="3857798" cy="1302345"/>
          </a:xfrm>
          <a:prstGeom prst="rect">
            <a:avLst/>
          </a:prstGeom>
        </p:spPr>
      </p:pic>
      <p:sp>
        <p:nvSpPr>
          <p:cNvPr id="13" name="Text 8"/>
          <p:cNvSpPr/>
          <p:nvPr/>
        </p:nvSpPr>
        <p:spPr>
          <a:xfrm>
            <a:off x="8215305" y="2330252"/>
            <a:ext cx="2047554" cy="236240"/>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Khung giờ cao điểm</a:t>
            </a:r>
            <a:endParaRPr lang="en-US" sz="1600" dirty="0">
              <a:latin typeface="Times New Roman" panose="02020603050405020304" pitchFamily="18" charset="0"/>
              <a:cs typeface="Times New Roman" panose="02020603050405020304" pitchFamily="18" charset="0"/>
            </a:endParaRPr>
          </a:p>
        </p:txBody>
      </p:sp>
      <p:sp>
        <p:nvSpPr>
          <p:cNvPr id="14" name="Text 9"/>
          <p:cNvSpPr/>
          <p:nvPr/>
        </p:nvSpPr>
        <p:spPr>
          <a:xfrm>
            <a:off x="8215305" y="2639020"/>
            <a:ext cx="3406392" cy="435372"/>
          </a:xfrm>
          <a:prstGeom prst="rect">
            <a:avLst/>
          </a:prstGeom>
          <a:noFill/>
          <a:ln/>
        </p:spPr>
        <p:txBody>
          <a:bodyPr wrap="square" lIns="0" tIns="0" rIns="0" bIns="0" rtlCol="0" anchor="t">
            <a:noAutofit/>
          </a:bodyPr>
          <a:lstStyle/>
          <a:p>
            <a:pPr marL="0" indent="0" algn="l">
              <a:lnSpc>
                <a:spcPct val="12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Khung giờ PM2.5 thường cao nhất là khoảng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18 giờ</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3583285"/>
            <a:ext cx="3857798" cy="1302345"/>
          </a:xfrm>
          <a:prstGeom prst="rect">
            <a:avLst/>
          </a:prstGeom>
        </p:spPr>
      </p:pic>
      <p:sp>
        <p:nvSpPr>
          <p:cNvPr id="16" name="Text 10"/>
          <p:cNvSpPr/>
          <p:nvPr/>
        </p:nvSpPr>
        <p:spPr>
          <a:xfrm>
            <a:off x="888978" y="3753545"/>
            <a:ext cx="2047554" cy="236240"/>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Điều kiện thời tiết</a:t>
            </a:r>
            <a:endParaRPr lang="en-US" sz="1600" dirty="0">
              <a:latin typeface="Times New Roman" panose="02020603050405020304" pitchFamily="18" charset="0"/>
              <a:cs typeface="Times New Roman" panose="02020603050405020304" pitchFamily="18" charset="0"/>
            </a:endParaRPr>
          </a:p>
        </p:txBody>
      </p:sp>
      <p:sp>
        <p:nvSpPr>
          <p:cNvPr id="17" name="Text 11"/>
          <p:cNvSpPr/>
          <p:nvPr/>
        </p:nvSpPr>
        <p:spPr>
          <a:xfrm>
            <a:off x="888978" y="4062313"/>
            <a:ext cx="3406392" cy="653058"/>
          </a:xfrm>
          <a:prstGeom prst="rect">
            <a:avLst/>
          </a:prstGeom>
          <a:noFill/>
          <a:ln/>
        </p:spPr>
        <p:txBody>
          <a:bodyPr wrap="square" lIns="0" tIns="0" rIns="0" bIns="0" rtlCol="0" anchor="t">
            <a:noAutofit/>
          </a:bodyPr>
          <a:lstStyle/>
          <a:p>
            <a:pPr marL="0" indent="0" algn="l">
              <a:lnSpc>
                <a:spcPct val="12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PM2.5 vượt ngưỡng thường xuất hiện trong điều kiện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ít mưa, gió yếu</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 và khả năng khuếch tán không khí thấp.</a:t>
            </a:r>
            <a:endParaRPr lang="en-US" sz="1600" dirty="0">
              <a:latin typeface="Times New Roman" panose="02020603050405020304" pitchFamily="18" charset="0"/>
              <a:cs typeface="Times New Roman" panose="02020603050405020304" pitchFamily="18" charset="0"/>
            </a:endParaRPr>
          </a:p>
        </p:txBody>
      </p:sp>
      <p:pic>
        <p:nvPicPr>
          <p:cNvPr id="18"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05688" y="3583285"/>
            <a:ext cx="3857798" cy="1302345"/>
          </a:xfrm>
          <a:prstGeom prst="rect">
            <a:avLst/>
          </a:prstGeom>
        </p:spPr>
      </p:pic>
      <p:sp>
        <p:nvSpPr>
          <p:cNvPr id="19" name="Text 12"/>
          <p:cNvSpPr/>
          <p:nvPr/>
        </p:nvSpPr>
        <p:spPr>
          <a:xfrm>
            <a:off x="4552142" y="3753545"/>
            <a:ext cx="2047554" cy="236240"/>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Biến đổi theo mùa</a:t>
            </a:r>
            <a:endParaRPr lang="en-US" sz="1600" dirty="0">
              <a:latin typeface="Times New Roman" panose="02020603050405020304" pitchFamily="18" charset="0"/>
              <a:cs typeface="Times New Roman" panose="02020603050405020304" pitchFamily="18" charset="0"/>
            </a:endParaRPr>
          </a:p>
        </p:txBody>
      </p:sp>
      <p:sp>
        <p:nvSpPr>
          <p:cNvPr id="20" name="Text 13"/>
          <p:cNvSpPr/>
          <p:nvPr/>
        </p:nvSpPr>
        <p:spPr>
          <a:xfrm>
            <a:off x="4552142" y="4062313"/>
            <a:ext cx="3406392" cy="435372"/>
          </a:xfrm>
          <a:prstGeom prst="rect">
            <a:avLst/>
          </a:prstGeom>
          <a:noFill/>
          <a:ln/>
        </p:spPr>
        <p:txBody>
          <a:bodyPr wrap="square" lIns="0" tIns="0" rIns="0" bIns="0" rtlCol="0" anchor="t">
            <a:noAutofit/>
          </a:bodyPr>
          <a:lstStyle/>
          <a:p>
            <a:pPr marL="0" indent="0" algn="l">
              <a:lnSpc>
                <a:spcPct val="12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PM2.5 thay đổi rõ theo mùa,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cao nhất vào mùa đông</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 và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thấp nhất vào mùa thu</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pic>
        <p:nvPicPr>
          <p:cNvPr id="21"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68852" y="3583285"/>
            <a:ext cx="3857798" cy="1302345"/>
          </a:xfrm>
          <a:prstGeom prst="rect">
            <a:avLst/>
          </a:prstGeom>
        </p:spPr>
      </p:pic>
      <p:sp>
        <p:nvSpPr>
          <p:cNvPr id="22" name="Text 14"/>
          <p:cNvSpPr/>
          <p:nvPr/>
        </p:nvSpPr>
        <p:spPr>
          <a:xfrm>
            <a:off x="8215305" y="3753545"/>
            <a:ext cx="2355585" cy="236240"/>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Xu hướng cuối giai đoạn</a:t>
            </a:r>
            <a:endParaRPr lang="en-US" sz="1600" dirty="0">
              <a:latin typeface="Times New Roman" panose="02020603050405020304" pitchFamily="18" charset="0"/>
              <a:cs typeface="Times New Roman" panose="02020603050405020304" pitchFamily="18" charset="0"/>
            </a:endParaRPr>
          </a:p>
        </p:txBody>
      </p:sp>
      <p:sp>
        <p:nvSpPr>
          <p:cNvPr id="23" name="Text 15"/>
          <p:cNvSpPr/>
          <p:nvPr/>
        </p:nvSpPr>
        <p:spPr>
          <a:xfrm>
            <a:off x="8215305" y="4062313"/>
            <a:ext cx="3406392" cy="435372"/>
          </a:xfrm>
          <a:prstGeom prst="rect">
            <a:avLst/>
          </a:prstGeom>
          <a:noFill/>
          <a:ln/>
        </p:spPr>
        <p:txBody>
          <a:bodyPr wrap="square" lIns="0" tIns="0" rIns="0" bIns="0" rtlCol="0" anchor="t">
            <a:noAutofit/>
          </a:bodyPr>
          <a:lstStyle/>
          <a:p>
            <a:pPr marL="0" indent="0" algn="l">
              <a:lnSpc>
                <a:spcPct val="12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PM2.5 có dấu hiệu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tăng ở giai đoạn cuối</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 tuy nhiên cần xem xét cùng yếu tố mùa.</a:t>
            </a:r>
            <a:endParaRPr lang="en-US" sz="1600" dirty="0">
              <a:latin typeface="Times New Roman" panose="02020603050405020304" pitchFamily="18" charset="0"/>
              <a:cs typeface="Times New Roman" panose="02020603050405020304" pitchFamily="18" charset="0"/>
            </a:endParaRPr>
          </a:p>
        </p:txBody>
      </p:sp>
      <p:pic>
        <p:nvPicPr>
          <p:cNvPr id="24"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525" y="5006578"/>
            <a:ext cx="3857798" cy="1084659"/>
          </a:xfrm>
          <a:prstGeom prst="rect">
            <a:avLst/>
          </a:prstGeom>
        </p:spPr>
      </p:pic>
      <p:sp>
        <p:nvSpPr>
          <p:cNvPr id="25" name="Text 16"/>
          <p:cNvSpPr/>
          <p:nvPr/>
        </p:nvSpPr>
        <p:spPr>
          <a:xfrm>
            <a:off x="888978" y="5176838"/>
            <a:ext cx="2047554" cy="236240"/>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Phân nhóm ô nhiễm</a:t>
            </a:r>
            <a:endParaRPr lang="en-US" sz="1600" dirty="0">
              <a:latin typeface="Times New Roman" panose="02020603050405020304" pitchFamily="18" charset="0"/>
              <a:cs typeface="Times New Roman" panose="02020603050405020304" pitchFamily="18" charset="0"/>
            </a:endParaRPr>
          </a:p>
        </p:txBody>
      </p:sp>
      <p:sp>
        <p:nvSpPr>
          <p:cNvPr id="26" name="Text 17"/>
          <p:cNvSpPr/>
          <p:nvPr/>
        </p:nvSpPr>
        <p:spPr>
          <a:xfrm>
            <a:off x="888978" y="5485606"/>
            <a:ext cx="3406392" cy="435372"/>
          </a:xfrm>
          <a:prstGeom prst="rect">
            <a:avLst/>
          </a:prstGeom>
          <a:noFill/>
          <a:ln/>
        </p:spPr>
        <p:txBody>
          <a:bodyPr wrap="square" lIns="0" tIns="0" rIns="0" bIns="0" rtlCol="0" anchor="t">
            <a:noAutofit/>
          </a:bodyPr>
          <a:lstStyle/>
          <a:p>
            <a:pPr marL="0" indent="0" algn="l">
              <a:lnSpc>
                <a:spcPct val="12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Việc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phân nhóm PM2.5</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 giúp đánh giá mức độ ô nhiễm rõ ràng hơn.</a:t>
            </a:r>
            <a:endParaRPr lang="en-US" sz="1600" dirty="0">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9C13148D-4160-BA47-4657-AEB9A5B3E5F2}"/>
              </a:ext>
            </a:extLst>
          </p:cNvPr>
          <p:cNvPicPr>
            <a:picLocks noChangeAspect="1"/>
          </p:cNvPicPr>
          <p:nvPr/>
        </p:nvPicPr>
        <p:blipFill>
          <a:blip r:embed="rId5"/>
          <a:stretch>
            <a:fillRect/>
          </a:stretch>
        </p:blipFill>
        <p:spPr>
          <a:xfrm>
            <a:off x="11040177" y="6561318"/>
            <a:ext cx="1151823" cy="29668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574" y="1202234"/>
            <a:ext cx="5098724" cy="561181"/>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Roboto Slab" pitchFamily="34" charset="-122"/>
                <a:cs typeface="Times New Roman" panose="02020603050405020304" pitchFamily="18" charset="0"/>
              </a:rPr>
              <a:t>HƯỚNG PHÁT TRIỂN</a:t>
            </a:r>
            <a:endParaRPr lang="en-US" sz="2000" b="1"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574" y="2104529"/>
            <a:ext cx="448854" cy="448866"/>
          </a:xfrm>
          <a:prstGeom prst="rect">
            <a:avLst/>
          </a:prstGeom>
        </p:spPr>
      </p:pic>
      <p:sp>
        <p:nvSpPr>
          <p:cNvPr id="4" name="Text 1"/>
          <p:cNvSpPr/>
          <p:nvPr/>
        </p:nvSpPr>
        <p:spPr>
          <a:xfrm>
            <a:off x="661574" y="2766616"/>
            <a:ext cx="2487153" cy="280491"/>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Bổ sung dữ liệu dài hạn</a:t>
            </a:r>
            <a:endParaRPr lang="en-US" sz="1600" dirty="0">
              <a:latin typeface="Times New Roman" panose="02020603050405020304" pitchFamily="18" charset="0"/>
              <a:cs typeface="Times New Roman" panose="02020603050405020304" pitchFamily="18" charset="0"/>
            </a:endParaRPr>
          </a:p>
        </p:txBody>
      </p:sp>
      <p:sp>
        <p:nvSpPr>
          <p:cNvPr id="5" name="Text 2"/>
          <p:cNvSpPr/>
          <p:nvPr/>
        </p:nvSpPr>
        <p:spPr>
          <a:xfrm>
            <a:off x="661574" y="3149402"/>
            <a:ext cx="3480705" cy="560189"/>
          </a:xfrm>
          <a:prstGeom prst="rect">
            <a:avLst/>
          </a:prstGeom>
          <a:noFill/>
          <a:ln/>
        </p:spPr>
        <p:txBody>
          <a:bodyPr wrap="square" lIns="0" tIns="0" rIns="0" bIns="0" rtlCol="0" anchor="t">
            <a:noAutofit/>
          </a:bodyPr>
          <a:lstStyle/>
          <a:p>
            <a:pPr marL="0" indent="0" algn="l">
              <a:lnSpc>
                <a:spcPct val="13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Bổ sung dữ liệu trong thời gian dài hơn để phân tích xu hướng chính xác hơn.</a:t>
            </a:r>
            <a:endParaRPr lang="en-US" sz="16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55495" y="2104529"/>
            <a:ext cx="448854" cy="448866"/>
          </a:xfrm>
          <a:prstGeom prst="rect">
            <a:avLst/>
          </a:prstGeom>
        </p:spPr>
      </p:pic>
      <p:sp>
        <p:nvSpPr>
          <p:cNvPr id="7" name="Text 3"/>
          <p:cNvSpPr/>
          <p:nvPr/>
        </p:nvSpPr>
        <p:spPr>
          <a:xfrm>
            <a:off x="4355495" y="2766616"/>
            <a:ext cx="3005062" cy="280491"/>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Kết hợp chỉ số ô nhiễm khác</a:t>
            </a:r>
            <a:endParaRPr lang="en-US" sz="1600" dirty="0">
              <a:latin typeface="Times New Roman" panose="02020603050405020304" pitchFamily="18" charset="0"/>
              <a:cs typeface="Times New Roman" panose="02020603050405020304" pitchFamily="18" charset="0"/>
            </a:endParaRPr>
          </a:p>
        </p:txBody>
      </p:sp>
      <p:sp>
        <p:nvSpPr>
          <p:cNvPr id="8" name="Text 4"/>
          <p:cNvSpPr/>
          <p:nvPr/>
        </p:nvSpPr>
        <p:spPr>
          <a:xfrm>
            <a:off x="4355495" y="3149402"/>
            <a:ext cx="3480705" cy="560189"/>
          </a:xfrm>
          <a:prstGeom prst="rect">
            <a:avLst/>
          </a:prstGeom>
          <a:noFill/>
          <a:ln/>
        </p:spPr>
        <p:txBody>
          <a:bodyPr wrap="square" lIns="0" tIns="0" rIns="0" bIns="0" rtlCol="0" anchor="t">
            <a:noAutofit/>
          </a:bodyPr>
          <a:lstStyle/>
          <a:p>
            <a:pPr marL="0" indent="0" algn="l">
              <a:lnSpc>
                <a:spcPct val="13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Kết hợp thêm các chỉ số ô nhiễm khác như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PM10, CO, NO2, SO2, O3</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 hoặc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AQI</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9416" y="2104529"/>
            <a:ext cx="448854" cy="448866"/>
          </a:xfrm>
          <a:prstGeom prst="rect">
            <a:avLst/>
          </a:prstGeom>
        </p:spPr>
      </p:pic>
      <p:sp>
        <p:nvSpPr>
          <p:cNvPr id="10" name="Text 5"/>
          <p:cNvSpPr/>
          <p:nvPr/>
        </p:nvSpPr>
        <p:spPr>
          <a:xfrm>
            <a:off x="8049416" y="2766616"/>
            <a:ext cx="2906541" cy="280491"/>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Xây dựng mô hình dự đoán</a:t>
            </a:r>
            <a:endParaRPr lang="en-US" sz="1600" dirty="0">
              <a:latin typeface="Times New Roman" panose="02020603050405020304" pitchFamily="18" charset="0"/>
              <a:cs typeface="Times New Roman" panose="02020603050405020304" pitchFamily="18" charset="0"/>
            </a:endParaRPr>
          </a:p>
        </p:txBody>
      </p:sp>
      <p:sp>
        <p:nvSpPr>
          <p:cNvPr id="11" name="Text 6"/>
          <p:cNvSpPr/>
          <p:nvPr/>
        </p:nvSpPr>
        <p:spPr>
          <a:xfrm>
            <a:off x="8049416" y="3149402"/>
            <a:ext cx="3480705" cy="560189"/>
          </a:xfrm>
          <a:prstGeom prst="rect">
            <a:avLst/>
          </a:prstGeom>
          <a:noFill/>
          <a:ln/>
        </p:spPr>
        <p:txBody>
          <a:bodyPr wrap="square" lIns="0" tIns="0" rIns="0" bIns="0" rtlCol="0" anchor="t">
            <a:noAutofit/>
          </a:bodyPr>
          <a:lstStyle/>
          <a:p>
            <a:pPr marL="0" indent="0" algn="l">
              <a:lnSpc>
                <a:spcPct val="13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Xây dựng mô hình dự đoán PM2.5 chính xác hơn.</a:t>
            </a:r>
            <a:endParaRPr lang="en-US" sz="1600" dirty="0">
              <a:latin typeface="Times New Roman" panose="02020603050405020304" pitchFamily="18" charset="0"/>
              <a:cs typeface="Times New Roman" panose="02020603050405020304" pitchFamily="18" charset="0"/>
            </a:endParaRPr>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574" y="4106763"/>
            <a:ext cx="448854" cy="448866"/>
          </a:xfrm>
          <a:prstGeom prst="rect">
            <a:avLst/>
          </a:prstGeom>
        </p:spPr>
      </p:pic>
      <p:sp>
        <p:nvSpPr>
          <p:cNvPr id="13" name="Text 7"/>
          <p:cNvSpPr/>
          <p:nvPr/>
        </p:nvSpPr>
        <p:spPr>
          <a:xfrm>
            <a:off x="661574" y="4712791"/>
            <a:ext cx="2660782" cy="280491"/>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Dashboard trực quan hóa</a:t>
            </a:r>
            <a:endParaRPr lang="en-US" sz="1600" dirty="0">
              <a:latin typeface="Times New Roman" panose="02020603050405020304" pitchFamily="18" charset="0"/>
              <a:cs typeface="Times New Roman" panose="02020603050405020304" pitchFamily="18" charset="0"/>
            </a:endParaRPr>
          </a:p>
        </p:txBody>
      </p:sp>
      <p:sp>
        <p:nvSpPr>
          <p:cNvPr id="14" name="Text 8"/>
          <p:cNvSpPr/>
          <p:nvPr/>
        </p:nvSpPr>
        <p:spPr>
          <a:xfrm>
            <a:off x="661574" y="5095577"/>
            <a:ext cx="3480705" cy="280095"/>
          </a:xfrm>
          <a:prstGeom prst="rect">
            <a:avLst/>
          </a:prstGeom>
          <a:noFill/>
          <a:ln/>
        </p:spPr>
        <p:txBody>
          <a:bodyPr wrap="none" lIns="0" tIns="0" rIns="0" bIns="0" rtlCol="0" anchor="t"/>
          <a:lstStyle/>
          <a:p>
            <a:pPr marL="0" indent="0" algn="l">
              <a:lnSpc>
                <a:spcPct val="13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Phát triển dashboard trực quan hóa dữ liệu.</a:t>
            </a:r>
            <a:endParaRPr lang="en-US" sz="1600" dirty="0">
              <a:latin typeface="Times New Roman" panose="02020603050405020304" pitchFamily="18" charset="0"/>
              <a:cs typeface="Times New Roman" panose="02020603050405020304" pitchFamily="18" charset="0"/>
            </a:endParaRPr>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55495" y="4050705"/>
            <a:ext cx="448854" cy="448866"/>
          </a:xfrm>
          <a:prstGeom prst="rect">
            <a:avLst/>
          </a:prstGeom>
        </p:spPr>
      </p:pic>
      <p:sp>
        <p:nvSpPr>
          <p:cNvPr id="16" name="Text 9"/>
          <p:cNvSpPr/>
          <p:nvPr/>
        </p:nvSpPr>
        <p:spPr>
          <a:xfrm>
            <a:off x="4355495" y="4712791"/>
            <a:ext cx="3081558" cy="280491"/>
          </a:xfrm>
          <a:prstGeom prst="rect">
            <a:avLst/>
          </a:prstGeom>
          <a:noFill/>
          <a:ln/>
        </p:spPr>
        <p:txBody>
          <a:bodyPr wrap="none" lIns="0" tIns="0" rIns="0" bIns="0" rtlCol="0" anchor="t"/>
          <a:lstStyle/>
          <a:p>
            <a:pPr marL="0" indent="0" algn="l">
              <a:lnSpc>
                <a:spcPct val="104000"/>
              </a:lnSpc>
              <a:buNone/>
            </a:pPr>
            <a:r>
              <a:rPr lang="en-US" sz="1600" dirty="0">
                <a:solidFill>
                  <a:srgbClr val="15213F"/>
                </a:solidFill>
                <a:latin typeface="Times New Roman" panose="02020603050405020304" pitchFamily="18" charset="0"/>
                <a:ea typeface="Roboto Slab" pitchFamily="34" charset="-122"/>
                <a:cs typeface="Times New Roman" panose="02020603050405020304" pitchFamily="18" charset="0"/>
              </a:rPr>
              <a:t>Kết nối dữ liệu thời gian thực</a:t>
            </a:r>
            <a:endParaRPr lang="en-US" sz="1600" dirty="0">
              <a:latin typeface="Times New Roman" panose="02020603050405020304" pitchFamily="18" charset="0"/>
              <a:cs typeface="Times New Roman" panose="02020603050405020304" pitchFamily="18" charset="0"/>
            </a:endParaRPr>
          </a:p>
        </p:txBody>
      </p:sp>
      <p:sp>
        <p:nvSpPr>
          <p:cNvPr id="17" name="Text 10"/>
          <p:cNvSpPr/>
          <p:nvPr/>
        </p:nvSpPr>
        <p:spPr>
          <a:xfrm>
            <a:off x="4355495" y="5095577"/>
            <a:ext cx="3480705" cy="560189"/>
          </a:xfrm>
          <a:prstGeom prst="rect">
            <a:avLst/>
          </a:prstGeom>
          <a:noFill/>
          <a:ln/>
        </p:spPr>
        <p:txBody>
          <a:bodyPr wrap="square" lIns="0" tIns="0" rIns="0" bIns="0" rtlCol="0" anchor="t">
            <a:noAutofit/>
          </a:bodyPr>
          <a:lstStyle/>
          <a:p>
            <a:pPr marL="0" indent="0" algn="l">
              <a:lnSpc>
                <a:spcPct val="130000"/>
              </a:lnSpc>
              <a:buNone/>
            </a:pP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Có thể kết nối dữ liệu thời gian thực để </a:t>
            </a:r>
            <a:r>
              <a:rPr lang="en-US" sz="1600" b="1" dirty="0">
                <a:solidFill>
                  <a:srgbClr val="15213F"/>
                </a:solidFill>
                <a:latin typeface="Times New Roman" panose="02020603050405020304" pitchFamily="18" charset="0"/>
                <a:ea typeface="Roboto" pitchFamily="34" charset="-122"/>
                <a:cs typeface="Times New Roman" panose="02020603050405020304" pitchFamily="18" charset="0"/>
              </a:rPr>
              <a:t>theo dõi và cảnh báo</a:t>
            </a:r>
            <a:r>
              <a:rPr lang="en-US" sz="1600" dirty="0">
                <a:solidFill>
                  <a:srgbClr val="15213F"/>
                </a:solidFill>
                <a:latin typeface="Times New Roman" panose="02020603050405020304" pitchFamily="18" charset="0"/>
                <a:ea typeface="Roboto" pitchFamily="34" charset="-122"/>
                <a:cs typeface="Times New Roman" panose="02020603050405020304" pitchFamily="18" charset="0"/>
              </a:rPr>
              <a:t> chất lượng không khí.</a:t>
            </a:r>
            <a:endParaRPr lang="en-US" sz="1600"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367D4736-FC0A-0398-8974-3B58F5FBFD4C}"/>
              </a:ext>
            </a:extLst>
          </p:cNvPr>
          <p:cNvPicPr>
            <a:picLocks noChangeAspect="1"/>
          </p:cNvPicPr>
          <p:nvPr/>
        </p:nvPicPr>
        <p:blipFill>
          <a:blip r:embed="rId8"/>
          <a:stretch>
            <a:fillRect/>
          </a:stretch>
        </p:blipFill>
        <p:spPr>
          <a:xfrm>
            <a:off x="10678569" y="6468177"/>
            <a:ext cx="1513431" cy="38982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TotalTime>
  <Words>1763</Words>
  <Application>Microsoft Office PowerPoint</Application>
  <PresentationFormat>Widescreen</PresentationFormat>
  <Paragraphs>196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Lora</vt:lpstr>
      <vt:lpstr>Alice</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Thắng Nguyễn Tiến</dc:creator>
  <cp:lastModifiedBy>ACER</cp:lastModifiedBy>
  <cp:revision>5</cp:revision>
  <dcterms:created xsi:type="dcterms:W3CDTF">2026-06-19T10:55:19Z</dcterms:created>
  <dcterms:modified xsi:type="dcterms:W3CDTF">2026-06-19T14:18:28Z</dcterms:modified>
</cp:coreProperties>
</file>